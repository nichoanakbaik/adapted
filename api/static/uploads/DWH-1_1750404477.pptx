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8" r:id="rId1"/>
  </p:sldMasterIdLst>
  <p:notesMasterIdLst>
    <p:notesMasterId r:id="rId27"/>
  </p:notesMasterIdLst>
  <p:sldIdLst>
    <p:sldId id="256" r:id="rId2"/>
    <p:sldId id="269" r:id="rId3"/>
    <p:sldId id="270" r:id="rId4"/>
    <p:sldId id="271" r:id="rId5"/>
    <p:sldId id="272" r:id="rId6"/>
    <p:sldId id="257" r:id="rId7"/>
    <p:sldId id="258" r:id="rId8"/>
    <p:sldId id="274" r:id="rId9"/>
    <p:sldId id="273" r:id="rId10"/>
    <p:sldId id="259" r:id="rId11"/>
    <p:sldId id="289" r:id="rId12"/>
    <p:sldId id="290" r:id="rId13"/>
    <p:sldId id="300" r:id="rId14"/>
    <p:sldId id="312" r:id="rId15"/>
    <p:sldId id="313" r:id="rId16"/>
    <p:sldId id="261" r:id="rId17"/>
    <p:sldId id="355" r:id="rId18"/>
    <p:sldId id="356" r:id="rId19"/>
    <p:sldId id="263" r:id="rId20"/>
    <p:sldId id="264" r:id="rId21"/>
    <p:sldId id="265" r:id="rId22"/>
    <p:sldId id="266" r:id="rId23"/>
    <p:sldId id="267" r:id="rId24"/>
    <p:sldId id="268" r:id="rId25"/>
    <p:sldId id="35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187" autoAdjust="0"/>
  </p:normalViewPr>
  <p:slideViewPr>
    <p:cSldViewPr snapToGrid="0" snapToObjects="1">
      <p:cViewPr>
        <p:scale>
          <a:sx n="174" d="100"/>
          <a:sy n="174" d="100"/>
        </p:scale>
        <p:origin x="84" y="-454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4BB4AA-528A-4D71-A203-61BBCE657372}" type="datetimeFigureOut">
              <a:rPr lang="en-ID" smtClean="0"/>
              <a:t>21/02/2025</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5C4C2B-8372-42FE-824F-D8D040ADBE79}" type="slidenum">
              <a:rPr lang="en-ID" smtClean="0"/>
              <a:t>‹#›</a:t>
            </a:fld>
            <a:endParaRPr lang="en-ID"/>
          </a:p>
        </p:txBody>
      </p:sp>
    </p:spTree>
    <p:extLst>
      <p:ext uri="{BB962C8B-B14F-4D97-AF65-F5344CB8AC3E}">
        <p14:creationId xmlns:p14="http://schemas.microsoft.com/office/powerpoint/2010/main" val="17389785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a:extLst>
              <a:ext uri="{FF2B5EF4-FFF2-40B4-BE49-F238E27FC236}">
                <a16:creationId xmlns:a16="http://schemas.microsoft.com/office/drawing/2014/main" id="{8D51B737-978A-5ABE-62B0-E020EE12EEED}"/>
              </a:ext>
            </a:extLst>
          </p:cNvPr>
          <p:cNvSpPr>
            <a:spLocks noGrp="1" noRot="1" noChangeAspect="1" noChangeArrowheads="1" noTextEdit="1"/>
          </p:cNvSpPr>
          <p:nvPr>
            <p:ph type="sldImg"/>
          </p:nvPr>
        </p:nvSpPr>
        <p:spPr>
          <a:xfrm>
            <a:off x="393700" y="692150"/>
            <a:ext cx="6070600" cy="3416300"/>
          </a:xfrm>
          <a:ln/>
        </p:spPr>
      </p:sp>
      <p:sp>
        <p:nvSpPr>
          <p:cNvPr id="30723" name="Notes Placeholder 2">
            <a:extLst>
              <a:ext uri="{FF2B5EF4-FFF2-40B4-BE49-F238E27FC236}">
                <a16:creationId xmlns:a16="http://schemas.microsoft.com/office/drawing/2014/main" id="{570F7379-C05F-4DE7-19B8-19014AEC5AA7}"/>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CAE537B9-EC3D-D8CD-946D-6BBD49EA762D}"/>
              </a:ext>
            </a:extLst>
          </p:cNvPr>
          <p:cNvSpPr>
            <a:spLocks noGrp="1" noRot="1" noChangeAspect="1" noChangeArrowheads="1" noTextEdit="1"/>
          </p:cNvSpPr>
          <p:nvPr>
            <p:ph type="sldImg"/>
          </p:nvPr>
        </p:nvSpPr>
        <p:spPr>
          <a:xfrm>
            <a:off x="393700" y="692150"/>
            <a:ext cx="6070600" cy="3416300"/>
          </a:xfrm>
          <a:ln/>
        </p:spPr>
      </p:sp>
      <p:sp>
        <p:nvSpPr>
          <p:cNvPr id="34819" name="Notes Placeholder 2">
            <a:extLst>
              <a:ext uri="{FF2B5EF4-FFF2-40B4-BE49-F238E27FC236}">
                <a16:creationId xmlns:a16="http://schemas.microsoft.com/office/drawing/2014/main" id="{363558E9-3340-36AC-AE45-03CC7F1036DB}"/>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id-ID" altLang="en-US" dirty="0">
                <a:solidFill>
                  <a:srgbClr val="666666"/>
                </a:solidFill>
                <a:latin typeface="Open Sans" panose="020B0606030504020204" pitchFamily="34" charset="0"/>
                <a:cs typeface="Arial" panose="020B0604020202020204" pitchFamily="34" charset="0"/>
              </a:rPr>
              <a:t>data model adalah proses penentuan struktur dari database dengan membuat suatu diagram menggunakan sebuah diagram yang berasal dari sistem dan data yang ada sehingga membantu organisasi lebih efektif dalam menggunakan data</a:t>
            </a:r>
            <a:endParaRPr lang="en-US" altLang="en-US" dirty="0">
              <a:solidFill>
                <a:srgbClr val="666666"/>
              </a:solidFill>
              <a:latin typeface="Open Sans" panose="020B0606030504020204" pitchFamily="34" charset="0"/>
              <a:cs typeface="Arial" panose="020B0604020202020204" pitchFamily="34" charset="0"/>
            </a:endParaRPr>
          </a:p>
          <a:p>
            <a:pPr eaLnBrk="1" hangingPunct="1"/>
            <a:r>
              <a:rPr lang="id-ID" altLang="en-US" dirty="0">
                <a:solidFill>
                  <a:srgbClr val="666666"/>
                </a:solidFill>
                <a:latin typeface="Open Sans" panose="020B0606030504020204" pitchFamily="34" charset="0"/>
                <a:cs typeface="Arial" panose="020B0604020202020204" pitchFamily="34" charset="0"/>
              </a:rPr>
              <a:t>data modelling sendiri merupakan proses mengidentifikasi, menganalisis, menyajikan, dan mengkomunikasikan persyaratan data dalam format yang sesuai serta memungkinkan organisasi untuk mendeskripsikan dan memahami aset yang terkandung di dalam data.</a:t>
            </a:r>
            <a:endParaRPr lang="en-US" altLang="en-US" dirty="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8CDFDE56-6022-52E4-C32C-956525502D81}"/>
              </a:ext>
            </a:extLst>
          </p:cNvPr>
          <p:cNvSpPr>
            <a:spLocks noGrp="1" noRot="1" noChangeAspect="1" noChangeArrowheads="1" noTextEdit="1"/>
          </p:cNvSpPr>
          <p:nvPr>
            <p:ph type="sldImg"/>
          </p:nvPr>
        </p:nvSpPr>
        <p:spPr>
          <a:xfrm>
            <a:off x="393700" y="692150"/>
            <a:ext cx="6070600" cy="3416300"/>
          </a:xfrm>
          <a:ln/>
        </p:spPr>
      </p:sp>
      <p:sp>
        <p:nvSpPr>
          <p:cNvPr id="36867" name="Notes Placeholder 2">
            <a:extLst>
              <a:ext uri="{FF2B5EF4-FFF2-40B4-BE49-F238E27FC236}">
                <a16:creationId xmlns:a16="http://schemas.microsoft.com/office/drawing/2014/main" id="{BD7BB267-7BD7-1593-35FD-4F334F797DEA}"/>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cs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E2FF9DB4-48D8-D554-5B9D-9C398053D7E5}"/>
              </a:ext>
            </a:extLst>
          </p:cNvPr>
          <p:cNvSpPr>
            <a:spLocks noGrp="1" noRot="1" noChangeAspect="1" noChangeArrowheads="1" noTextEdit="1"/>
          </p:cNvSpPr>
          <p:nvPr>
            <p:ph type="sldImg"/>
          </p:nvPr>
        </p:nvSpPr>
        <p:spPr>
          <a:xfrm>
            <a:off x="393700" y="692150"/>
            <a:ext cx="6070600" cy="3416300"/>
          </a:xfrm>
          <a:ln/>
        </p:spPr>
      </p:sp>
      <p:sp>
        <p:nvSpPr>
          <p:cNvPr id="46083" name="Notes Placeholder 2">
            <a:extLst>
              <a:ext uri="{FF2B5EF4-FFF2-40B4-BE49-F238E27FC236}">
                <a16:creationId xmlns:a16="http://schemas.microsoft.com/office/drawing/2014/main" id="{36458493-A6B1-C94B-9BB6-71C6B5B51F8E}"/>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cs typeface="Arial" panose="020B0604020202020204" pitchFamily="34" charset="0"/>
            </a:endParaRPr>
          </a:p>
        </p:txBody>
      </p:sp>
      <p:sp>
        <p:nvSpPr>
          <p:cNvPr id="46084" name="Slide Number Placeholder 3">
            <a:extLst>
              <a:ext uri="{FF2B5EF4-FFF2-40B4-BE49-F238E27FC236}">
                <a16:creationId xmlns:a16="http://schemas.microsoft.com/office/drawing/2014/main" id="{6FEBD1FD-D4AB-F9EB-53FB-EDCAA840D23E}"/>
              </a:ext>
            </a:extLst>
          </p:cNvPr>
          <p:cNvSpPr>
            <a:spLocks noGrp="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lgn="r" eaLnBrk="1" hangingPunct="1">
              <a:spcBef>
                <a:spcPct val="0"/>
              </a:spcBef>
            </a:pPr>
            <a:fld id="{F0CF80FE-5C91-44D1-BD3D-B02CA1601E46}" type="slidenum">
              <a:rPr lang="en-US" altLang="en-US" sz="1800">
                <a:latin typeface="Tahoma" panose="020B0604030504040204" pitchFamily="34" charset="0"/>
              </a:rPr>
              <a:pPr algn="r" eaLnBrk="1" hangingPunct="1">
                <a:spcBef>
                  <a:spcPct val="0"/>
                </a:spcBef>
              </a:pPr>
              <a:t>17</a:t>
            </a:fld>
            <a:endParaRPr lang="en-US" altLang="en-US" sz="1800">
              <a:latin typeface="Tahoma" panose="020B060403050404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37979A1C-BF60-B345-A664-2E4F7A3461EB}"/>
                </a:ext>
              </a:extLst>
            </p:cNvPr>
            <p:cNvSpPr/>
            <p:nvPr/>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58080B3E-915C-2D4C-8608-596E1BFD6387}"/>
                </a:ext>
              </a:extLst>
            </p:cNvPr>
            <p:cNvSpPr/>
            <p:nvPr/>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9E240E8A-950E-7946-826C-415CB5DACA43}"/>
                </a:ext>
              </a:extLst>
            </p:cNvPr>
            <p:cNvSpPr/>
            <p:nvPr/>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anchor="b">
            <a:noAutofit/>
          </a:bodyPr>
          <a:lstStyle>
            <a:lvl1pPr algn="l">
              <a:defRPr sz="6000" b="1">
                <a:latin typeface="+mj-lt"/>
              </a:defRPr>
            </a:lvl1pPr>
          </a:lstStyle>
          <a:p>
            <a:r>
              <a:rPr lang="en-US" dirty="0"/>
              <a:t>Click to add title</a:t>
            </a:r>
          </a:p>
        </p:txBody>
      </p:sp>
    </p:spTree>
    <p:extLst>
      <p:ext uri="{BB962C8B-B14F-4D97-AF65-F5344CB8AC3E}">
        <p14:creationId xmlns:p14="http://schemas.microsoft.com/office/powerpoint/2010/main" val="150854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a:norm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fld id="{5BCAD085-E8A6-8845-BD4E-CB4CCA059FC4}" type="datetimeFigureOut">
              <a:rPr lang="en-US" smtClean="0"/>
              <a:t>2/21/2025</a:t>
            </a:fld>
            <a:endParaRPr lang="en-US"/>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1850733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Righ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p:nvGrpSpPr>
        <p:grpSpPr>
          <a:xfrm flipH="1">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anchor="ctr" anchorCtr="0">
            <a:noAutofit/>
          </a:bodyPr>
          <a:lstStyle>
            <a:lvl1pPr>
              <a:defRPr sz="6000" b="1">
                <a:latin typeface="+mj-lt"/>
              </a:defRPr>
            </a:lvl1pPr>
          </a:lstStyle>
          <a:p>
            <a:r>
              <a:rPr lang="en-US" dirty="0"/>
              <a:t>Click to add title</a:t>
            </a:r>
          </a:p>
        </p:txBody>
      </p:sp>
      <p:sp>
        <p:nvSpPr>
          <p:cNvPr id="15" name="Picture Placeholder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fld id="{5BCAD085-E8A6-8845-BD4E-CB4CCA059FC4}" type="datetimeFigureOut">
              <a:rPr lang="en-US" smtClean="0"/>
              <a:t>2/21/2025</a:t>
            </a:fld>
            <a:endParaRPr lang="en-US"/>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576202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Lef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943600" y="457200"/>
            <a:ext cx="5120640" cy="3200400"/>
          </a:xfrm>
        </p:spPr>
        <p:txBody>
          <a:bodyPr anchor="b" anchorCtr="0">
            <a:noAutofit/>
          </a:bodyPr>
          <a:lstStyle>
            <a:lvl1pPr>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8763DBBF-E63D-81E5-E7CE-32F6F2C2F935}"/>
              </a:ext>
            </a:extLst>
          </p:cNvPr>
          <p:cNvSpPr>
            <a:spLocks noGrp="1"/>
          </p:cNvSpPr>
          <p:nvPr>
            <p:ph type="subTitle" idx="1" hasCustomPrompt="1"/>
          </p:nvPr>
        </p:nvSpPr>
        <p:spPr>
          <a:xfrm>
            <a:off x="5943598" y="3657600"/>
            <a:ext cx="5120640" cy="1828800"/>
          </a:xfrm>
        </p:spPr>
        <p:txBody>
          <a:bodyPr anchor="t" anchorCtr="0">
            <a:noAutofit/>
          </a:bodyPr>
          <a:lstStyle>
            <a:lvl1pPr marL="0" indent="0" algn="l">
              <a:buNone/>
              <a:defRPr sz="32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5" name="Picture Placeholder 14">
            <a:extLst>
              <a:ext uri="{FF2B5EF4-FFF2-40B4-BE49-F238E27FC236}">
                <a16:creationId xmlns:a16="http://schemas.microsoft.com/office/drawing/2014/main" id="{64033732-ADA1-C540-7276-3FF5CDEF2C5E}"/>
              </a:ext>
            </a:extLst>
          </p:cNvPr>
          <p:cNvSpPr>
            <a:spLocks noGrp="1"/>
          </p:cNvSpPr>
          <p:nvPr>
            <p:ph type="pic" sz="quarter" idx="10"/>
          </p:nvPr>
        </p:nvSpPr>
        <p:spPr>
          <a:xfrm>
            <a:off x="904238" y="1157224"/>
            <a:ext cx="4500562" cy="452120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fld id="{5BCAD085-E8A6-8845-BD4E-CB4CCA059FC4}" type="datetimeFigureOut">
              <a:rPr lang="en-US" smtClean="0"/>
              <a:t>2/21/2025</a:t>
            </a:fld>
            <a:endParaRPr lang="en-US"/>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92176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2">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a:normAutofit/>
          </a:bodyPr>
          <a:lstStyle>
            <a:lvl1pPr marL="342900" indent="-283464">
              <a:spcBef>
                <a:spcPts val="1000"/>
              </a:spcBef>
              <a:buFont typeface="Arial" panose="020B0604020202020204" pitchFamily="34" charset="0"/>
              <a:buChar char="•"/>
              <a:defRPr sz="2000">
                <a:solidFill>
                  <a:schemeClr val="bg1"/>
                </a:solidFill>
                <a:latin typeface="+mn-lt"/>
              </a:defRPr>
            </a:lvl1pPr>
            <a:lvl2pPr marL="566928" indent="-283464">
              <a:spcBef>
                <a:spcPts val="1000"/>
              </a:spcBef>
              <a:buFont typeface="Arial" panose="020B0604020202020204" pitchFamily="34" charset="0"/>
              <a:buChar char="•"/>
              <a:defRPr sz="2000">
                <a:solidFill>
                  <a:schemeClr val="bg1"/>
                </a:solidFill>
                <a:latin typeface="+mn-lt"/>
              </a:defRPr>
            </a:lvl2pPr>
            <a:lvl3pPr marL="850392" indent="-283464">
              <a:spcBef>
                <a:spcPts val="1000"/>
              </a:spcBef>
              <a:buFont typeface="Arial" panose="020B0604020202020204" pitchFamily="34" charset="0"/>
              <a:buChar char="•"/>
              <a:defRPr sz="2000">
                <a:solidFill>
                  <a:schemeClr val="bg1"/>
                </a:solidFill>
                <a:latin typeface="+mn-lt"/>
              </a:defRPr>
            </a:lvl3pPr>
            <a:lvl4pPr marL="1097280" indent="-283464">
              <a:spcBef>
                <a:spcPts val="1000"/>
              </a:spcBef>
              <a:buFont typeface="Arial" panose="020B0604020202020204" pitchFamily="34" charset="0"/>
              <a:buChar char="•"/>
              <a:defRPr sz="2000">
                <a:solidFill>
                  <a:schemeClr val="bg1"/>
                </a:solidFill>
                <a:latin typeface="+mn-lt"/>
              </a:defRPr>
            </a:lvl4pPr>
            <a:lvl5pPr marL="1371600"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fld id="{5BCAD085-E8A6-8845-BD4E-CB4CCA059FC4}" type="datetimeFigureOut">
              <a:rPr lang="en-US" smtClean="0"/>
              <a:t>2/21/2025</a:t>
            </a:fld>
            <a:endParaRPr lang="en-US"/>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40458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p:nvGrpSpPr>
        <p:grpSpPr>
          <a:xfrm>
            <a:off x="0" y="0"/>
            <a:ext cx="12192000" cy="6858000"/>
            <a:chOff x="0" y="0"/>
            <a:chExt cx="12192000" cy="6858000"/>
          </a:xfrm>
        </p:grpSpPr>
        <p:sp>
          <p:nvSpPr>
            <p:cNvPr id="23" name="Freeform 22">
              <a:extLst>
                <a:ext uri="{FF2B5EF4-FFF2-40B4-BE49-F238E27FC236}">
                  <a16:creationId xmlns:a16="http://schemas.microsoft.com/office/drawing/2014/main" id="{067EACEC-C2DD-EA42-8504-176673AD1F20}"/>
                </a:ext>
              </a:extLst>
            </p:cNvPr>
            <p:cNvSpPr/>
            <p:nvPr/>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89843C7E-5704-7A46-8974-F3BFA42E7310}"/>
                </a:ext>
              </a:extLst>
            </p:cNvPr>
            <p:cNvGrpSpPr/>
            <p:nvPr/>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7" name="Freeform 16">
              <a:extLst>
                <a:ext uri="{FF2B5EF4-FFF2-40B4-BE49-F238E27FC236}">
                  <a16:creationId xmlns:a16="http://schemas.microsoft.com/office/drawing/2014/main" id="{0B179973-08D2-EF40-B516-35E75E906394}"/>
                </a:ext>
              </a:extLst>
            </p:cNvPr>
            <p:cNvSpPr/>
            <p:nvPr/>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17">
              <a:extLst>
                <a:ext uri="{FF2B5EF4-FFF2-40B4-BE49-F238E27FC236}">
                  <a16:creationId xmlns:a16="http://schemas.microsoft.com/office/drawing/2014/main" id="{6C811FF3-E48A-194D-8022-65F8C3A17449}"/>
                </a:ext>
              </a:extLst>
            </p:cNvPr>
            <p:cNvSpPr/>
            <p:nvPr/>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anchor="b">
            <a:noAutofit/>
          </a:bodyPr>
          <a:lstStyle>
            <a:lvl1pPr algn="l">
              <a:defRPr sz="6000" b="1">
                <a:solidFill>
                  <a:schemeClr val="bg1"/>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anchor="ctr" anchorCtr="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4238210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fld id="{5BCAD085-E8A6-8845-BD4E-CB4CCA059FC4}" type="datetimeFigureOut">
              <a:rPr lang="en-US" smtClean="0"/>
              <a:t>2/21/2025</a:t>
            </a:fld>
            <a:endParaRPr lang="en-US"/>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670145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2 content">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anchor="b">
            <a:noAutofit/>
          </a:bodyPr>
          <a:lstStyle>
            <a:lvl1pPr>
              <a:defRPr sz="4200" b="1">
                <a:solidFill>
                  <a:schemeClr val="bg1"/>
                </a:solidFill>
                <a:latin typeface="+mj-lt"/>
              </a:defRPr>
            </a:lvl1pPr>
          </a:lstStyle>
          <a:p>
            <a:r>
              <a:rPr lang="en-US" dirty="0"/>
              <a:t>Click to add title</a:t>
            </a:r>
          </a:p>
        </p:txBody>
      </p:sp>
      <p:sp>
        <p:nvSpPr>
          <p:cNvPr id="14" name="Content Placeholder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a:normAutofit/>
          </a:bodyPr>
          <a:lstStyle>
            <a:lvl1pPr marL="530352" indent="-530352">
              <a:spcBef>
                <a:spcPts val="1000"/>
              </a:spcBef>
              <a:buFont typeface="+mj-lt"/>
              <a:buAutoNum type="arabicPeriod"/>
              <a:defRPr sz="2000">
                <a:solidFill>
                  <a:schemeClr val="bg1"/>
                </a:solidFill>
                <a:latin typeface="+mn-lt"/>
              </a:defRPr>
            </a:lvl1pPr>
            <a:lvl2pPr marL="1097280" indent="-530352">
              <a:spcBef>
                <a:spcPts val="1000"/>
              </a:spcBef>
              <a:buFont typeface="+mj-lt"/>
              <a:buAutoNum type="alphaLcPeriod"/>
              <a:defRPr sz="2000">
                <a:solidFill>
                  <a:schemeClr val="bg1"/>
                </a:solidFill>
                <a:latin typeface="+mn-lt"/>
              </a:defRPr>
            </a:lvl2pPr>
            <a:lvl3pPr marL="1645920" indent="-530352">
              <a:spcBef>
                <a:spcPts val="1000"/>
              </a:spcBef>
              <a:buFont typeface="+mj-lt"/>
              <a:buAutoNum type="arabicParenR"/>
              <a:defRPr sz="2000">
                <a:solidFill>
                  <a:schemeClr val="bg1"/>
                </a:solidFill>
                <a:latin typeface="+mn-lt"/>
              </a:defRPr>
            </a:lvl3pPr>
            <a:lvl4pPr marL="1920240" indent="-530352">
              <a:spcBef>
                <a:spcPts val="1000"/>
              </a:spcBef>
              <a:buFont typeface="+mj-lt"/>
              <a:buAutoNum type="alphaLcParenR"/>
              <a:defRPr sz="2000">
                <a:solidFill>
                  <a:schemeClr val="bg1"/>
                </a:solidFill>
                <a:latin typeface="+mn-lt"/>
              </a:defRPr>
            </a:lvl4pPr>
            <a:lvl5pPr marL="2560320" indent="-514350">
              <a:spcBef>
                <a:spcPts val="1000"/>
              </a:spcBef>
              <a:buFont typeface="+mj-lt"/>
              <a:buAutoNum type="romanLcPeriod"/>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fld id="{5BCAD085-E8A6-8845-BD4E-CB4CCA059FC4}" type="datetimeFigureOut">
              <a:rPr lang="en-US" smtClean="0"/>
              <a:t>2/21/2025</a:t>
            </a:fld>
            <a:endParaRPr lang="en-US"/>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endParaRPr lang="en-US"/>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665702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and Content and Image 1">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p:nvGrpSpPr>
        <p:grpSpPr>
          <a:xfrm>
            <a:off x="0" y="0"/>
            <a:ext cx="12208822" cy="6858002"/>
            <a:chOff x="0" y="0"/>
            <a:chExt cx="12208822" cy="6858002"/>
          </a:xfrm>
        </p:grpSpPr>
        <p:sp>
          <p:nvSpPr>
            <p:cNvPr id="7" name="Rectangle 6">
              <a:extLst>
                <a:ext uri="{FF2B5EF4-FFF2-40B4-BE49-F238E27FC236}">
                  <a16:creationId xmlns:a16="http://schemas.microsoft.com/office/drawing/2014/main" id="{2A62587F-7496-384A-AF40-18FC8CF0709D}"/>
                </a:ext>
              </a:extLst>
            </p:cNvPr>
            <p:cNvSpPr/>
            <p:nvPr/>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7200"/>
            <a:ext cx="10643508" cy="1371600"/>
          </a:xfrm>
        </p:spPr>
        <p:txBody>
          <a:bodyPr anchor="b">
            <a:noAutofit/>
          </a:bodyPr>
          <a:lstStyle>
            <a:lvl1pPr>
              <a:defRPr sz="4200" b="1">
                <a:latin typeface="+mj-lt"/>
              </a:defRPr>
            </a:lvl1pPr>
          </a:lstStyle>
          <a:p>
            <a:r>
              <a:rPr lang="en-US" dirty="0"/>
              <a:t>Click to add title</a:t>
            </a:r>
          </a:p>
        </p:txBody>
      </p:sp>
      <p:sp>
        <p:nvSpPr>
          <p:cNvPr id="10" name="Content Placeholder 2">
            <a:extLst>
              <a:ext uri="{FF2B5EF4-FFF2-40B4-BE49-F238E27FC236}">
                <a16:creationId xmlns:a16="http://schemas.microsoft.com/office/drawing/2014/main" id="{B07A1CF7-9B3B-E43E-830E-DAB65B608249}"/>
              </a:ext>
            </a:extLst>
          </p:cNvPr>
          <p:cNvSpPr>
            <a:spLocks noGrp="1"/>
          </p:cNvSpPr>
          <p:nvPr>
            <p:ph idx="15" hasCustomPrompt="1"/>
          </p:nvPr>
        </p:nvSpPr>
        <p:spPr>
          <a:xfrm>
            <a:off x="1166088" y="2652713"/>
            <a:ext cx="5394959" cy="3436936"/>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4">
            <a:extLst>
              <a:ext uri="{FF2B5EF4-FFF2-40B4-BE49-F238E27FC236}">
                <a16:creationId xmlns:a16="http://schemas.microsoft.com/office/drawing/2014/main" id="{D976D8D6-3BDC-1908-3425-FEE3EEF51A26}"/>
              </a:ext>
            </a:extLst>
          </p:cNvPr>
          <p:cNvSpPr>
            <a:spLocks noGrp="1"/>
          </p:cNvSpPr>
          <p:nvPr>
            <p:ph type="pic" sz="quarter" idx="14"/>
          </p:nvPr>
        </p:nvSpPr>
        <p:spPr>
          <a:xfrm>
            <a:off x="7317920" y="1447800"/>
            <a:ext cx="4214010" cy="421401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fld id="{5BCAD085-E8A6-8845-BD4E-CB4CCA059FC4}" type="datetimeFigureOut">
              <a:rPr lang="en-US" smtClean="0"/>
              <a:t>2/21/2025</a:t>
            </a:fld>
            <a:endParaRPr lang="en-US"/>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913694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SmartArt 2">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457200"/>
            <a:ext cx="9692640" cy="1371600"/>
          </a:xfrm>
        </p:spPr>
        <p:txBody>
          <a:bodyPr anchor="b">
            <a:noAutofit/>
          </a:bodyPr>
          <a:lstStyle>
            <a:lvl1pPr>
              <a:defRPr sz="4200" b="1">
                <a:latin typeface="+mj-lt"/>
              </a:defRPr>
            </a:lvl1pPr>
          </a:lstStyle>
          <a:p>
            <a:r>
              <a:rPr lang="en-US" dirty="0"/>
              <a:t>Click to add title</a:t>
            </a:r>
          </a:p>
        </p:txBody>
      </p:sp>
      <p:sp>
        <p:nvSpPr>
          <p:cNvPr id="4" name="Content Placeholder 2">
            <a:extLst>
              <a:ext uri="{FF2B5EF4-FFF2-40B4-BE49-F238E27FC236}">
                <a16:creationId xmlns:a16="http://schemas.microsoft.com/office/drawing/2014/main" id="{C45E425B-455F-127B-1647-045FD094F15D}"/>
              </a:ext>
            </a:extLst>
          </p:cNvPr>
          <p:cNvSpPr>
            <a:spLocks noGrp="1"/>
          </p:cNvSpPr>
          <p:nvPr>
            <p:ph idx="10" hasCustomPrompt="1"/>
          </p:nvPr>
        </p:nvSpPr>
        <p:spPr>
          <a:xfrm>
            <a:off x="1167493" y="2087561"/>
            <a:ext cx="2693306" cy="3890543"/>
          </a:xfrm>
        </p:spPr>
        <p:txBody>
          <a:bodyPr>
            <a:noAutofit/>
          </a:bodyPr>
          <a:lstStyle>
            <a:lvl1pPr marL="0" indent="0">
              <a:buNone/>
              <a:defRPr sz="2000">
                <a:latin typeface="+mn-lt"/>
              </a:defRPr>
            </a:lvl1pPr>
            <a:lvl2pPr marL="457200" indent="0">
              <a:buNone/>
              <a:defRPr sz="2000">
                <a:latin typeface="+mn-lt"/>
              </a:defRPr>
            </a:lvl2pPr>
            <a:lvl3pPr marL="914400" indent="0">
              <a:buNone/>
              <a:defRPr sz="2000">
                <a:latin typeface="+mn-lt"/>
              </a:defRPr>
            </a:lvl3pPr>
            <a:lvl4pPr marL="1371600" indent="0">
              <a:buNone/>
              <a:defRPr sz="2000">
                <a:latin typeface="+mn-lt"/>
              </a:defRPr>
            </a:lvl4pPr>
            <a:lvl5pPr marL="1828800" indent="0">
              <a:buNone/>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4216400" y="2087563"/>
            <a:ext cx="6730274" cy="389054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fld id="{5BCAD085-E8A6-8845-BD4E-CB4CCA059FC4}" type="datetimeFigureOut">
              <a:rPr lang="en-US" smtClean="0"/>
              <a:t>2/21/2025</a:t>
            </a:fld>
            <a:endParaRPr lang="en-US"/>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844292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Title and Content and Image 2">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79F46B00-4AE8-52A2-6926-FC2F5DD1FAD4}"/>
              </a:ext>
              <a:ext uri="{C183D7F6-B498-43B3-948B-1728B52AA6E4}">
                <adec:decorative xmlns:adec="http://schemas.microsoft.com/office/drawing/2017/decorative" val="1"/>
              </a:ext>
            </a:extLst>
          </p:cNvPr>
          <p:cNvGrpSpPr/>
          <p:nvPr/>
        </p:nvGrpSpPr>
        <p:grpSpPr>
          <a:xfrm>
            <a:off x="-2364" y="0"/>
            <a:ext cx="12194364" cy="6858000"/>
            <a:chOff x="-2364" y="0"/>
            <a:chExt cx="12194364" cy="6858000"/>
          </a:xfrm>
        </p:grpSpPr>
        <p:sp>
          <p:nvSpPr>
            <p:cNvPr id="4" name="Freeform 3">
              <a:extLst>
                <a:ext uri="{FF2B5EF4-FFF2-40B4-BE49-F238E27FC236}">
                  <a16:creationId xmlns:a16="http://schemas.microsoft.com/office/drawing/2014/main" id="{6A7F6A3F-E1DD-A246-9A6D-5F9B18BA2588}"/>
                </a:ext>
              </a:extLst>
            </p:cNvPr>
            <p:cNvSpPr/>
            <p:nvPr/>
          </p:nvSpPr>
          <p:spPr>
            <a:xfrm rot="5400000">
              <a:off x="8580896"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p:nvSpPr>
          <p:spPr>
            <a:xfrm>
              <a:off x="-2364"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nvGrpSpPr>
            <p:cNvPr id="9" name="Group 8">
              <a:extLst>
                <a:ext uri="{FF2B5EF4-FFF2-40B4-BE49-F238E27FC236}">
                  <a16:creationId xmlns:a16="http://schemas.microsoft.com/office/drawing/2014/main" id="{9861BC34-DFBF-2D4F-B463-FCFBC08391FF}"/>
                </a:ext>
              </a:extLst>
            </p:cNvPr>
            <p:cNvGrpSpPr/>
            <p:nvPr/>
          </p:nvGrpSpPr>
          <p:grpSpPr>
            <a:xfrm>
              <a:off x="2587417"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549489" y="457199"/>
            <a:ext cx="5943599" cy="1920240"/>
          </a:xfrm>
        </p:spPr>
        <p:txBody>
          <a:bodyPr anchor="b">
            <a:noAutofit/>
          </a:bodyPr>
          <a:lstStyle>
            <a:lvl1pPr>
              <a:defRPr sz="4200" b="1">
                <a:latin typeface="+mj-lt"/>
              </a:defRPr>
            </a:lvl1pPr>
          </a:lstStyle>
          <a:p>
            <a:r>
              <a:rPr lang="en-US" dirty="0"/>
              <a:t>Click to add title</a:t>
            </a:r>
          </a:p>
        </p:txBody>
      </p:sp>
      <p:sp>
        <p:nvSpPr>
          <p:cNvPr id="15" name="Content Placeholder 2">
            <a:extLst>
              <a:ext uri="{FF2B5EF4-FFF2-40B4-BE49-F238E27FC236}">
                <a16:creationId xmlns:a16="http://schemas.microsoft.com/office/drawing/2014/main" id="{6BBDFA0C-B372-969D-6C8A-F664A4BF8D41}"/>
              </a:ext>
            </a:extLst>
          </p:cNvPr>
          <p:cNvSpPr>
            <a:spLocks noGrp="1" noChangeAspect="1"/>
          </p:cNvSpPr>
          <p:nvPr>
            <p:ph idx="17" hasCustomPrompt="1"/>
          </p:nvPr>
        </p:nvSpPr>
        <p:spPr>
          <a:xfrm>
            <a:off x="823108" y="640080"/>
            <a:ext cx="4297680" cy="4297680"/>
          </a:xfrm>
          <a:prstGeom prst="ellipse">
            <a:avLst/>
          </a:prstGeom>
          <a:solidFill>
            <a:schemeClr val="accent2"/>
          </a:solidFill>
        </p:spPr>
        <p:txBody>
          <a:bodyPr anchor="ctr" anchorCtr="0">
            <a:noAutofit/>
          </a:bodyPr>
          <a:lstStyle>
            <a:lvl1pPr marL="0" indent="0" algn="ctr">
              <a:buFont typeface="Arial" panose="020B0604020202020204" pitchFamily="34" charset="0"/>
              <a:buNone/>
              <a:defRPr sz="2000">
                <a:latin typeface="+mn-lt"/>
              </a:defRPr>
            </a:lvl1pPr>
            <a:lvl2pPr marL="347663" indent="0" algn="ctr">
              <a:buFont typeface="Arial" panose="020B0604020202020204" pitchFamily="34" charset="0"/>
              <a:buNone/>
              <a:defRPr sz="2000">
                <a:latin typeface="+mn-lt"/>
              </a:defRPr>
            </a:lvl2pPr>
            <a:lvl3pPr marL="685800" indent="0" algn="ctr">
              <a:buFont typeface="Arial" panose="020B0604020202020204" pitchFamily="34" charset="0"/>
              <a:buNone/>
              <a:defRPr sz="2000">
                <a:latin typeface="+mn-lt"/>
              </a:defRPr>
            </a:lvl3pPr>
            <a:lvl4pPr marL="914400" indent="0" algn="ctr">
              <a:buFont typeface="Arial" panose="020B0604020202020204" pitchFamily="34" charset="0"/>
              <a:buNone/>
              <a:defRPr sz="2000">
                <a:latin typeface="+mn-lt"/>
              </a:defRPr>
            </a:lvl4pPr>
            <a:lvl5pPr marL="1143000" indent="0" algn="ctr">
              <a:buFont typeface="Arial" panose="020B0604020202020204" pitchFamily="34" charset="0"/>
              <a:buNone/>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67114"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fld id="{5BCAD085-E8A6-8845-BD4E-CB4CCA059FC4}" type="datetimeFigureOut">
              <a:rPr lang="en-US" smtClean="0"/>
              <a:t>2/21/2025</a:t>
            </a:fld>
            <a:endParaRPr lang="en-US"/>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C1FF6DA9-008F-8B48-92A6-B652298478BF}" type="slidenum">
              <a:rPr lang="en-US" smtClean="0"/>
              <a:t>‹#›</a:t>
            </a:fld>
            <a:endParaRPr lang="en-US"/>
          </a:p>
        </p:txBody>
      </p:sp>
      <p:sp>
        <p:nvSpPr>
          <p:cNvPr id="3" name="Content Placeholder 2">
            <a:extLst>
              <a:ext uri="{FF2B5EF4-FFF2-40B4-BE49-F238E27FC236}">
                <a16:creationId xmlns:a16="http://schemas.microsoft.com/office/drawing/2014/main" id="{99A8D2CC-EE75-85FA-1577-88C0BEC7B10C}"/>
              </a:ext>
            </a:extLst>
          </p:cNvPr>
          <p:cNvSpPr>
            <a:spLocks noGrp="1"/>
          </p:cNvSpPr>
          <p:nvPr>
            <p:ph idx="15" hasCustomPrompt="1"/>
          </p:nvPr>
        </p:nvSpPr>
        <p:spPr>
          <a:xfrm>
            <a:off x="5549490" y="2706369"/>
            <a:ext cx="5943600" cy="3383279"/>
          </a:xfrm>
        </p:spPr>
        <p:txBody>
          <a:bodyPr>
            <a:normAutofit/>
          </a:bodyPr>
          <a:lstStyle>
            <a:lvl1pPr marL="283464" indent="-283464">
              <a:spcBef>
                <a:spcPts val="1000"/>
              </a:spcBef>
              <a:buFont typeface="Arial" panose="020B0604020202020204" pitchFamily="34" charset="0"/>
              <a:buChar char="•"/>
              <a:defRPr sz="2000">
                <a:solidFill>
                  <a:schemeClr val="tx1"/>
                </a:solidFill>
                <a:latin typeface="+mn-lt"/>
              </a:defRPr>
            </a:lvl1pPr>
            <a:lvl2pPr marL="566928" indent="-283464">
              <a:spcBef>
                <a:spcPts val="1000"/>
              </a:spcBef>
              <a:buFont typeface="Arial" panose="020B0604020202020204" pitchFamily="34" charset="0"/>
              <a:buChar char="•"/>
              <a:defRPr sz="2000">
                <a:solidFill>
                  <a:schemeClr val="tx1"/>
                </a:solidFill>
                <a:latin typeface="+mn-lt"/>
              </a:defRPr>
            </a:lvl2pPr>
            <a:lvl3pPr marL="850392" indent="-283464">
              <a:spcBef>
                <a:spcPts val="1000"/>
              </a:spcBef>
              <a:buFont typeface="Arial" panose="020B0604020202020204" pitchFamily="34" charset="0"/>
              <a:buChar char="•"/>
              <a:defRPr sz="2000">
                <a:solidFill>
                  <a:schemeClr val="tx1"/>
                </a:solidFill>
                <a:latin typeface="+mn-lt"/>
              </a:defRPr>
            </a:lvl3pPr>
            <a:lvl4pPr marL="1133856" indent="-283464">
              <a:spcBef>
                <a:spcPts val="1000"/>
              </a:spcBef>
              <a:buFont typeface="Arial" panose="020B0604020202020204" pitchFamily="34" charset="0"/>
              <a:buChar char="•"/>
              <a:defRPr sz="2000">
                <a:solidFill>
                  <a:schemeClr val="tx1"/>
                </a:solidFill>
                <a:latin typeface="+mn-lt"/>
              </a:defRPr>
            </a:lvl4pPr>
            <a:lvl5pPr marL="1463040" indent="-283464">
              <a:spcBef>
                <a:spcPts val="1000"/>
              </a:spcBef>
              <a:buFont typeface="Arial" panose="020B0604020202020204" pitchFamily="34" charset="0"/>
              <a:buChar char="•"/>
              <a:defRPr sz="2000">
                <a:solidFill>
                  <a:schemeClr val="tx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309086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Chart ">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fld id="{5BCAD085-E8A6-8845-BD4E-CB4CCA059FC4}" type="datetimeFigureOut">
              <a:rPr lang="en-US" smtClean="0"/>
              <a:t>2/21/2025</a:t>
            </a:fld>
            <a:endParaRPr lang="en-US"/>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3756995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16">
              <a:extLst>
                <a:ext uri="{FF2B5EF4-FFF2-40B4-BE49-F238E27FC236}">
                  <a16:creationId xmlns:a16="http://schemas.microsoft.com/office/drawing/2014/main" id="{39563C76-BC00-DE47-88F5-C24D3CE3325A}"/>
                </a:ext>
              </a:extLst>
            </p:cNvPr>
            <p:cNvSpPr/>
            <p:nvPr/>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anchor="b">
            <a:noAutofit/>
          </a:bodyPr>
          <a:lstStyle>
            <a:lvl1pPr algn="l">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anchor="t" anchorCtr="0">
            <a:norm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Tree>
    <p:extLst>
      <p:ext uri="{BB962C8B-B14F-4D97-AF65-F5344CB8AC3E}">
        <p14:creationId xmlns:p14="http://schemas.microsoft.com/office/powerpoint/2010/main" val="40990651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2" name="Date Placeholder 2">
            <a:extLst>
              <a:ext uri="{FF2B5EF4-FFF2-40B4-BE49-F238E27FC236}">
                <a16:creationId xmlns:a16="http://schemas.microsoft.com/office/drawing/2014/main" id="{CDAA51FF-54F6-5C80-2C5E-4EC5B9BA4252}"/>
              </a:ext>
            </a:extLst>
          </p:cNvPr>
          <p:cNvSpPr>
            <a:spLocks noGrp="1"/>
          </p:cNvSpPr>
          <p:nvPr>
            <p:ph type="dt" sz="half" idx="10"/>
          </p:nvPr>
        </p:nvSpPr>
        <p:spPr/>
        <p:txBody>
          <a:bodyPr/>
          <a:lstStyle>
            <a:lvl1pPr>
              <a:defRPr/>
            </a:lvl1pPr>
          </a:lstStyle>
          <a:p>
            <a:pPr>
              <a:defRPr/>
            </a:pPr>
            <a:fld id="{A4CD51BF-324F-4A26-A8A3-E7CA5D407CFD}" type="datetimeFigureOut">
              <a:rPr lang="en-US" altLang="en-US"/>
              <a:pPr>
                <a:defRPr/>
              </a:pPr>
              <a:t>2/21/2025</a:t>
            </a:fld>
            <a:endParaRPr lang="en-US" altLang="en-US"/>
          </a:p>
        </p:txBody>
      </p:sp>
      <p:sp>
        <p:nvSpPr>
          <p:cNvPr id="3" name="Footer Placeholder 23">
            <a:extLst>
              <a:ext uri="{FF2B5EF4-FFF2-40B4-BE49-F238E27FC236}">
                <a16:creationId xmlns:a16="http://schemas.microsoft.com/office/drawing/2014/main" id="{AFDECE06-4A22-B5E1-8ED1-2D73A1CE519D}"/>
              </a:ext>
            </a:extLst>
          </p:cNvPr>
          <p:cNvSpPr>
            <a:spLocks noGrp="1"/>
          </p:cNvSpPr>
          <p:nvPr>
            <p:ph type="ftr" sz="quarter" idx="11"/>
          </p:nvPr>
        </p:nvSpPr>
        <p:spPr/>
        <p:txBody>
          <a:bodyPr/>
          <a:lstStyle>
            <a:lvl1pPr>
              <a:defRPr/>
            </a:lvl1pPr>
          </a:lstStyle>
          <a:p>
            <a:pPr>
              <a:defRPr/>
            </a:pPr>
            <a:endParaRPr lang="en-US" altLang="en-US"/>
          </a:p>
        </p:txBody>
      </p:sp>
      <p:sp>
        <p:nvSpPr>
          <p:cNvPr id="4" name="Slide Number Placeholder 6">
            <a:extLst>
              <a:ext uri="{FF2B5EF4-FFF2-40B4-BE49-F238E27FC236}">
                <a16:creationId xmlns:a16="http://schemas.microsoft.com/office/drawing/2014/main" id="{18B13431-610F-9427-A26F-4C1B70B42822}"/>
              </a:ext>
            </a:extLst>
          </p:cNvPr>
          <p:cNvSpPr>
            <a:spLocks noGrp="1"/>
          </p:cNvSpPr>
          <p:nvPr>
            <p:ph type="sldNum" sz="quarter" idx="12"/>
          </p:nvPr>
        </p:nvSpPr>
        <p:spPr/>
        <p:txBody>
          <a:bodyPr/>
          <a:lstStyle>
            <a:lvl1pPr>
              <a:defRPr/>
            </a:lvl1pPr>
          </a:lstStyle>
          <a:p>
            <a:pPr>
              <a:defRPr/>
            </a:pPr>
            <a:fld id="{042776F2-1FA8-4746-A6A8-67E1EC7988EA}" type="slidenum">
              <a:rPr lang="en-US" altLang="en-US"/>
              <a:pPr>
                <a:defRPr/>
              </a:pPr>
              <a:t>‹#›</a:t>
            </a:fld>
            <a:endParaRPr lang="en-US" altLang="en-US"/>
          </a:p>
        </p:txBody>
      </p:sp>
    </p:spTree>
    <p:extLst>
      <p:ext uri="{BB962C8B-B14F-4D97-AF65-F5344CB8AC3E}">
        <p14:creationId xmlns:p14="http://schemas.microsoft.com/office/powerpoint/2010/main" val="17102293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30" name="Title 29"/>
          <p:cNvSpPr>
            <a:spLocks noGrp="1"/>
          </p:cNvSpPr>
          <p:nvPr>
            <p:ph type="title"/>
          </p:nvPr>
        </p:nvSpPr>
        <p:spPr>
          <a:xfrm>
            <a:off x="402336" y="457200"/>
            <a:ext cx="11582400" cy="841248"/>
          </a:xfrm>
        </p:spPr>
        <p:txBody>
          <a:bodyPr/>
          <a:lstStyle/>
          <a:p>
            <a:r>
              <a:rPr lang="en-US"/>
              <a:t>Click to edit Master title style</a:t>
            </a:r>
          </a:p>
        </p:txBody>
      </p:sp>
      <p:sp>
        <p:nvSpPr>
          <p:cNvPr id="2" name="Date Placeholder 10">
            <a:extLst>
              <a:ext uri="{FF2B5EF4-FFF2-40B4-BE49-F238E27FC236}">
                <a16:creationId xmlns:a16="http://schemas.microsoft.com/office/drawing/2014/main" id="{FDF60851-AA86-C7F3-E5DD-175A713F911B}"/>
              </a:ext>
            </a:extLst>
          </p:cNvPr>
          <p:cNvSpPr>
            <a:spLocks noGrp="1"/>
          </p:cNvSpPr>
          <p:nvPr>
            <p:ph type="dt" sz="half" idx="10"/>
          </p:nvPr>
        </p:nvSpPr>
        <p:spPr/>
        <p:txBody>
          <a:bodyPr/>
          <a:lstStyle>
            <a:lvl1pPr>
              <a:defRPr/>
            </a:lvl1pPr>
          </a:lstStyle>
          <a:p>
            <a:pPr>
              <a:defRPr/>
            </a:pPr>
            <a:fld id="{CC24AED7-3A2F-4984-AECF-36556A9C63A9}" type="datetimeFigureOut">
              <a:rPr lang="en-US" altLang="en-US"/>
              <a:pPr>
                <a:defRPr/>
              </a:pPr>
              <a:t>2/21/2025</a:t>
            </a:fld>
            <a:endParaRPr lang="en-US" altLang="en-US"/>
          </a:p>
        </p:txBody>
      </p:sp>
      <p:sp>
        <p:nvSpPr>
          <p:cNvPr id="3" name="Footer Placeholder 27">
            <a:extLst>
              <a:ext uri="{FF2B5EF4-FFF2-40B4-BE49-F238E27FC236}">
                <a16:creationId xmlns:a16="http://schemas.microsoft.com/office/drawing/2014/main" id="{680A28FE-E6A9-419F-8B02-80838ACFD6EF}"/>
              </a:ext>
            </a:extLst>
          </p:cNvPr>
          <p:cNvSpPr>
            <a:spLocks noGrp="1"/>
          </p:cNvSpPr>
          <p:nvPr>
            <p:ph type="ftr" sz="quarter" idx="11"/>
          </p:nvPr>
        </p:nvSpPr>
        <p:spPr/>
        <p:txBody>
          <a:bodyPr/>
          <a:lstStyle>
            <a:lvl1pPr>
              <a:defRPr/>
            </a:lvl1pPr>
          </a:lstStyle>
          <a:p>
            <a:pPr>
              <a:defRPr/>
            </a:pPr>
            <a:endParaRPr lang="en-US" altLang="en-US"/>
          </a:p>
        </p:txBody>
      </p:sp>
      <p:sp>
        <p:nvSpPr>
          <p:cNvPr id="4" name="Slide Number Placeholder 4">
            <a:extLst>
              <a:ext uri="{FF2B5EF4-FFF2-40B4-BE49-F238E27FC236}">
                <a16:creationId xmlns:a16="http://schemas.microsoft.com/office/drawing/2014/main" id="{86C57484-34A4-4FEE-B826-1A709276A6A8}"/>
              </a:ext>
            </a:extLst>
          </p:cNvPr>
          <p:cNvSpPr>
            <a:spLocks noGrp="1"/>
          </p:cNvSpPr>
          <p:nvPr>
            <p:ph type="sldNum" sz="quarter" idx="12"/>
          </p:nvPr>
        </p:nvSpPr>
        <p:spPr/>
        <p:txBody>
          <a:bodyPr/>
          <a:lstStyle>
            <a:lvl1pPr>
              <a:defRPr/>
            </a:lvl1pPr>
          </a:lstStyle>
          <a:p>
            <a:pPr>
              <a:defRPr/>
            </a:pPr>
            <a:fld id="{D755307C-7647-4812-A558-DC40EC481E1A}" type="slidenum">
              <a:rPr lang="en-US" altLang="en-US"/>
              <a:pPr>
                <a:defRPr/>
              </a:pPr>
              <a:t>‹#›</a:t>
            </a:fld>
            <a:endParaRPr lang="en-US" altLang="en-US"/>
          </a:p>
        </p:txBody>
      </p:sp>
    </p:spTree>
    <p:extLst>
      <p:ext uri="{BB962C8B-B14F-4D97-AF65-F5344CB8AC3E}">
        <p14:creationId xmlns:p14="http://schemas.microsoft.com/office/powerpoint/2010/main" val="27754601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fld id="{5BCAD085-E8A6-8845-BD4E-CB4CCA059FC4}" type="datetimeFigureOut">
              <a:rPr lang="en-US" smtClean="0"/>
              <a:t>2/21/2025</a:t>
            </a:fld>
            <a:endParaRPr lang="en-US"/>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endParaRPr lang="en-US"/>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91982033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Lst>
  <p:txStyles>
    <p:titleStyle>
      <a:lvl1pPr algn="l"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sis.trisakti.ac.id/index/rps-view/idrps/1168/search/Datawarehouse" TargetMode="Externa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3406" y="406153"/>
            <a:ext cx="6245912" cy="3269447"/>
          </a:xfrm>
        </p:spPr>
        <p:txBody>
          <a:bodyPr/>
          <a:lstStyle/>
          <a:p>
            <a:r>
              <a:rPr dirty="0" err="1"/>
              <a:t>Manajemen</a:t>
            </a:r>
            <a:r>
              <a:rPr dirty="0"/>
              <a:t> Basis Data &amp; </a:t>
            </a:r>
            <a:r>
              <a:rPr lang="en-US" dirty="0"/>
              <a:t>Data Warehouse</a:t>
            </a:r>
            <a:endParaRPr dirty="0"/>
          </a:p>
        </p:txBody>
      </p:sp>
      <p:sp>
        <p:nvSpPr>
          <p:cNvPr id="3" name="Subtitle 2"/>
          <p:cNvSpPr>
            <a:spLocks noGrp="1"/>
          </p:cNvSpPr>
          <p:nvPr>
            <p:ph type="subTitle" idx="1"/>
          </p:nvPr>
        </p:nvSpPr>
        <p:spPr>
          <a:xfrm>
            <a:off x="692006" y="4709048"/>
            <a:ext cx="6245912" cy="912850"/>
          </a:xfrm>
        </p:spPr>
        <p:txBody>
          <a:bodyPr/>
          <a:lstStyle/>
          <a:p>
            <a:r>
              <a:rPr lang="en-US" dirty="0"/>
              <a:t>Team Teaching Data Warehouse</a:t>
            </a:r>
            <a:endParaRPr dirty="0"/>
          </a:p>
          <a:p>
            <a:r>
              <a:rPr lang="en-US"/>
              <a:t>2024-2025 </a:t>
            </a:r>
            <a:r>
              <a:rPr lang="en-US" dirty="0" err="1"/>
              <a:t>Genap</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A2E84C-C645-602C-B6E8-16AC5C4E4070}"/>
              </a:ext>
            </a:extLst>
          </p:cNvPr>
          <p:cNvSpPr>
            <a:spLocks noGrp="1"/>
          </p:cNvSpPr>
          <p:nvPr>
            <p:ph type="title"/>
          </p:nvPr>
        </p:nvSpPr>
        <p:spPr>
          <a:xfrm>
            <a:off x="315769" y="524193"/>
            <a:ext cx="9779183" cy="640714"/>
          </a:xfrm>
        </p:spPr>
        <p:txBody>
          <a:bodyPr/>
          <a:lstStyle/>
          <a:p>
            <a:r>
              <a:rPr lang="en-US" dirty="0"/>
              <a:t>RPS</a:t>
            </a:r>
            <a:endParaRPr lang="en-ID" dirty="0"/>
          </a:p>
        </p:txBody>
      </p:sp>
      <p:sp>
        <p:nvSpPr>
          <p:cNvPr id="5" name="Content Placeholder 4">
            <a:extLst>
              <a:ext uri="{FF2B5EF4-FFF2-40B4-BE49-F238E27FC236}">
                <a16:creationId xmlns:a16="http://schemas.microsoft.com/office/drawing/2014/main" id="{757C6059-AA9C-F546-D347-3D8B258D744F}"/>
              </a:ext>
            </a:extLst>
          </p:cNvPr>
          <p:cNvSpPr>
            <a:spLocks noGrp="1"/>
          </p:cNvSpPr>
          <p:nvPr>
            <p:ph idx="1"/>
          </p:nvPr>
        </p:nvSpPr>
        <p:spPr>
          <a:xfrm>
            <a:off x="315770" y="1241775"/>
            <a:ext cx="9779182" cy="338328"/>
          </a:xfrm>
        </p:spPr>
        <p:txBody>
          <a:bodyPr>
            <a:normAutofit/>
          </a:bodyPr>
          <a:lstStyle/>
          <a:p>
            <a:r>
              <a:rPr lang="en-ID" sz="1400" dirty="0"/>
              <a:t>https://sis.trisakti.ac.id/index</a:t>
            </a:r>
            <a:r>
              <a:rPr lang="en-ID" sz="1400"/>
              <a:t>/rps-view</a:t>
            </a:r>
            <a:r>
              <a:rPr lang="en-ID" sz="1400" dirty="0"/>
              <a:t>/idrps/1168/search/Datawarehouse</a:t>
            </a:r>
          </a:p>
        </p:txBody>
      </p:sp>
      <p:pic>
        <p:nvPicPr>
          <p:cNvPr id="7" name="Picture 6">
            <a:extLst>
              <a:ext uri="{FF2B5EF4-FFF2-40B4-BE49-F238E27FC236}">
                <a16:creationId xmlns:a16="http://schemas.microsoft.com/office/drawing/2014/main" id="{7C4D1E2B-AC2F-E8D1-D80D-950FA96E6595}"/>
              </a:ext>
            </a:extLst>
          </p:cNvPr>
          <p:cNvPicPr>
            <a:picLocks noChangeAspect="1"/>
          </p:cNvPicPr>
          <p:nvPr/>
        </p:nvPicPr>
        <p:blipFill>
          <a:blip r:embed="rId2"/>
          <a:stretch>
            <a:fillRect/>
          </a:stretch>
        </p:blipFill>
        <p:spPr>
          <a:xfrm>
            <a:off x="237936" y="1656971"/>
            <a:ext cx="11638294" cy="5064503"/>
          </a:xfrm>
          <a:prstGeom prst="rect">
            <a:avLst/>
          </a:prstGeom>
        </p:spPr>
      </p:pic>
    </p:spTree>
    <p:extLst>
      <p:ext uri="{BB962C8B-B14F-4D97-AF65-F5344CB8AC3E}">
        <p14:creationId xmlns:p14="http://schemas.microsoft.com/office/powerpoint/2010/main" val="3039212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8BBFD-A187-3919-01CC-D8154853275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DC543F5-299B-AED1-751F-194334BB5B02}"/>
              </a:ext>
            </a:extLst>
          </p:cNvPr>
          <p:cNvSpPr>
            <a:spLocks noGrp="1"/>
          </p:cNvSpPr>
          <p:nvPr>
            <p:ph type="title"/>
          </p:nvPr>
        </p:nvSpPr>
        <p:spPr>
          <a:xfrm>
            <a:off x="315769" y="524193"/>
            <a:ext cx="9779183" cy="640714"/>
          </a:xfrm>
        </p:spPr>
        <p:txBody>
          <a:bodyPr/>
          <a:lstStyle/>
          <a:p>
            <a:r>
              <a:rPr lang="en-US" dirty="0"/>
              <a:t>RPS</a:t>
            </a:r>
            <a:endParaRPr lang="en-ID" dirty="0"/>
          </a:p>
        </p:txBody>
      </p:sp>
      <p:sp>
        <p:nvSpPr>
          <p:cNvPr id="5" name="Content Placeholder 4">
            <a:extLst>
              <a:ext uri="{FF2B5EF4-FFF2-40B4-BE49-F238E27FC236}">
                <a16:creationId xmlns:a16="http://schemas.microsoft.com/office/drawing/2014/main" id="{17171F2A-57F8-CA63-49EC-039AAFCB0AF2}"/>
              </a:ext>
            </a:extLst>
          </p:cNvPr>
          <p:cNvSpPr>
            <a:spLocks noGrp="1"/>
          </p:cNvSpPr>
          <p:nvPr>
            <p:ph idx="1"/>
          </p:nvPr>
        </p:nvSpPr>
        <p:spPr>
          <a:xfrm>
            <a:off x="315770" y="1241775"/>
            <a:ext cx="9779182" cy="338328"/>
          </a:xfrm>
        </p:spPr>
        <p:txBody>
          <a:bodyPr>
            <a:normAutofit/>
          </a:bodyPr>
          <a:lstStyle/>
          <a:p>
            <a:r>
              <a:rPr lang="en-ID" sz="1400" dirty="0"/>
              <a:t>https://sis.trisakti.ac.id/index</a:t>
            </a:r>
            <a:r>
              <a:rPr lang="en-ID" sz="1400"/>
              <a:t>/rps-view</a:t>
            </a:r>
            <a:r>
              <a:rPr lang="en-ID" sz="1400" dirty="0"/>
              <a:t>/idrps/1168/search/Datawarehouse</a:t>
            </a:r>
          </a:p>
        </p:txBody>
      </p:sp>
      <p:pic>
        <p:nvPicPr>
          <p:cNvPr id="3" name="Picture 2">
            <a:extLst>
              <a:ext uri="{FF2B5EF4-FFF2-40B4-BE49-F238E27FC236}">
                <a16:creationId xmlns:a16="http://schemas.microsoft.com/office/drawing/2014/main" id="{14200663-160B-9C12-B165-1EA9E992217B}"/>
              </a:ext>
            </a:extLst>
          </p:cNvPr>
          <p:cNvPicPr>
            <a:picLocks noChangeAspect="1"/>
          </p:cNvPicPr>
          <p:nvPr/>
        </p:nvPicPr>
        <p:blipFill>
          <a:blip r:embed="rId2"/>
          <a:stretch>
            <a:fillRect/>
          </a:stretch>
        </p:blipFill>
        <p:spPr>
          <a:xfrm>
            <a:off x="0" y="2424678"/>
            <a:ext cx="12192000" cy="2008644"/>
          </a:xfrm>
          <a:prstGeom prst="rect">
            <a:avLst/>
          </a:prstGeom>
        </p:spPr>
      </p:pic>
    </p:spTree>
    <p:extLst>
      <p:ext uri="{BB962C8B-B14F-4D97-AF65-F5344CB8AC3E}">
        <p14:creationId xmlns:p14="http://schemas.microsoft.com/office/powerpoint/2010/main" val="3027342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46336-FA46-6708-0C4D-B68A40B3E43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00EE255-A4DD-EBA4-B19B-D09D352876B9}"/>
              </a:ext>
            </a:extLst>
          </p:cNvPr>
          <p:cNvSpPr>
            <a:spLocks noGrp="1"/>
          </p:cNvSpPr>
          <p:nvPr>
            <p:ph type="title"/>
          </p:nvPr>
        </p:nvSpPr>
        <p:spPr>
          <a:xfrm>
            <a:off x="315769" y="524193"/>
            <a:ext cx="9779183" cy="640714"/>
          </a:xfrm>
        </p:spPr>
        <p:txBody>
          <a:bodyPr/>
          <a:lstStyle/>
          <a:p>
            <a:r>
              <a:rPr lang="en-US" dirty="0"/>
              <a:t>Bahan Ajar</a:t>
            </a:r>
            <a:endParaRPr lang="en-ID" dirty="0"/>
          </a:p>
        </p:txBody>
      </p:sp>
      <p:sp>
        <p:nvSpPr>
          <p:cNvPr id="5" name="Content Placeholder 4">
            <a:extLst>
              <a:ext uri="{FF2B5EF4-FFF2-40B4-BE49-F238E27FC236}">
                <a16:creationId xmlns:a16="http://schemas.microsoft.com/office/drawing/2014/main" id="{5C2658F2-465A-6CB4-E7A6-2B19D71435AB}"/>
              </a:ext>
            </a:extLst>
          </p:cNvPr>
          <p:cNvSpPr>
            <a:spLocks noGrp="1"/>
          </p:cNvSpPr>
          <p:nvPr>
            <p:ph idx="1"/>
          </p:nvPr>
        </p:nvSpPr>
        <p:spPr>
          <a:xfrm>
            <a:off x="315770" y="1241775"/>
            <a:ext cx="9779182" cy="338328"/>
          </a:xfrm>
        </p:spPr>
        <p:txBody>
          <a:bodyPr>
            <a:normAutofit/>
          </a:bodyPr>
          <a:lstStyle/>
          <a:p>
            <a:r>
              <a:rPr lang="en-ID" sz="1400" dirty="0"/>
              <a:t>https://sis.trisakti.ac.id/index</a:t>
            </a:r>
            <a:r>
              <a:rPr lang="en-ID" sz="1400"/>
              <a:t>/rps-view</a:t>
            </a:r>
            <a:r>
              <a:rPr lang="en-ID" sz="1400" dirty="0"/>
              <a:t>/idrps/1168/search/Datawarehouse</a:t>
            </a:r>
          </a:p>
        </p:txBody>
      </p:sp>
      <p:pic>
        <p:nvPicPr>
          <p:cNvPr id="6" name="Picture 5">
            <a:extLst>
              <a:ext uri="{FF2B5EF4-FFF2-40B4-BE49-F238E27FC236}">
                <a16:creationId xmlns:a16="http://schemas.microsoft.com/office/drawing/2014/main" id="{AFB3ADA7-F20A-05BD-A132-C3EE9576A000}"/>
              </a:ext>
            </a:extLst>
          </p:cNvPr>
          <p:cNvPicPr>
            <a:picLocks noChangeAspect="1"/>
          </p:cNvPicPr>
          <p:nvPr/>
        </p:nvPicPr>
        <p:blipFill>
          <a:blip r:embed="rId2"/>
          <a:stretch>
            <a:fillRect/>
          </a:stretch>
        </p:blipFill>
        <p:spPr>
          <a:xfrm>
            <a:off x="315769" y="1580103"/>
            <a:ext cx="11515344" cy="5142896"/>
          </a:xfrm>
          <a:prstGeom prst="rect">
            <a:avLst/>
          </a:prstGeom>
        </p:spPr>
      </p:pic>
    </p:spTree>
    <p:extLst>
      <p:ext uri="{BB962C8B-B14F-4D97-AF65-F5344CB8AC3E}">
        <p14:creationId xmlns:p14="http://schemas.microsoft.com/office/powerpoint/2010/main" val="4098234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EF3F3-B63E-F37D-501A-600E00584C7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8A53DF8-B892-E2CB-5675-3F2BC1F63E5E}"/>
              </a:ext>
            </a:extLst>
          </p:cNvPr>
          <p:cNvSpPr>
            <a:spLocks noGrp="1"/>
          </p:cNvSpPr>
          <p:nvPr>
            <p:ph type="title"/>
          </p:nvPr>
        </p:nvSpPr>
        <p:spPr>
          <a:xfrm>
            <a:off x="315769" y="524193"/>
            <a:ext cx="9779183" cy="640714"/>
          </a:xfrm>
        </p:spPr>
        <p:txBody>
          <a:bodyPr/>
          <a:lstStyle/>
          <a:p>
            <a:r>
              <a:rPr lang="en-US" dirty="0"/>
              <a:t>Assessment Component</a:t>
            </a:r>
            <a:endParaRPr lang="en-ID" dirty="0"/>
          </a:p>
        </p:txBody>
      </p:sp>
      <p:sp>
        <p:nvSpPr>
          <p:cNvPr id="5" name="Content Placeholder 4">
            <a:extLst>
              <a:ext uri="{FF2B5EF4-FFF2-40B4-BE49-F238E27FC236}">
                <a16:creationId xmlns:a16="http://schemas.microsoft.com/office/drawing/2014/main" id="{99136E7E-D199-0054-F900-7D3EE5F1EE85}"/>
              </a:ext>
            </a:extLst>
          </p:cNvPr>
          <p:cNvSpPr>
            <a:spLocks noGrp="1"/>
          </p:cNvSpPr>
          <p:nvPr>
            <p:ph idx="1"/>
          </p:nvPr>
        </p:nvSpPr>
        <p:spPr>
          <a:xfrm>
            <a:off x="315770" y="1241774"/>
            <a:ext cx="9779182" cy="4107465"/>
          </a:xfrm>
        </p:spPr>
        <p:txBody>
          <a:bodyPr>
            <a:normAutofit/>
          </a:bodyPr>
          <a:lstStyle/>
          <a:p>
            <a:r>
              <a:rPr lang="en-ID" sz="1400" dirty="0">
                <a:hlinkClick r:id="rId2"/>
              </a:rPr>
              <a:t>https://sis.trisakti.ac.id/index/rps-view/idrps/1168/search/Datawarehouse</a:t>
            </a:r>
            <a:endParaRPr lang="en-ID" sz="1400" dirty="0"/>
          </a:p>
          <a:p>
            <a:endParaRPr lang="en-ID" sz="1400" dirty="0"/>
          </a:p>
          <a:p>
            <a:r>
              <a:rPr lang="en-ID" sz="3200" b="1" dirty="0" err="1">
                <a:solidFill>
                  <a:schemeClr val="bg1"/>
                </a:solidFill>
              </a:rPr>
              <a:t>Tugas</a:t>
            </a:r>
            <a:r>
              <a:rPr lang="en-ID" sz="3200" b="1" dirty="0">
                <a:solidFill>
                  <a:schemeClr val="bg1"/>
                </a:solidFill>
              </a:rPr>
              <a:t>: </a:t>
            </a:r>
            <a:r>
              <a:rPr lang="en-ID" sz="3200" b="1" dirty="0" err="1">
                <a:solidFill>
                  <a:schemeClr val="bg1"/>
                </a:solidFill>
              </a:rPr>
              <a:t>Projek</a:t>
            </a:r>
            <a:r>
              <a:rPr lang="en-ID" sz="3200" b="1" dirty="0">
                <a:solidFill>
                  <a:schemeClr val="bg1"/>
                </a:solidFill>
              </a:rPr>
              <a:t> DWH</a:t>
            </a:r>
          </a:p>
          <a:p>
            <a:pPr marL="285750" indent="-285750">
              <a:buFont typeface="Arial" panose="020B0604020202020204" pitchFamily="34" charset="0"/>
              <a:buChar char="•"/>
            </a:pPr>
            <a:r>
              <a:rPr lang="en-ID" sz="3200" b="1" dirty="0" err="1">
                <a:solidFill>
                  <a:schemeClr val="bg1"/>
                </a:solidFill>
              </a:rPr>
              <a:t>Tugas</a:t>
            </a:r>
            <a:r>
              <a:rPr lang="en-ID" sz="3200" b="1" dirty="0">
                <a:solidFill>
                  <a:schemeClr val="bg1"/>
                </a:solidFill>
              </a:rPr>
              <a:t> </a:t>
            </a:r>
            <a:r>
              <a:rPr lang="en-ID" sz="3200" b="1" dirty="0" err="1">
                <a:solidFill>
                  <a:schemeClr val="bg1"/>
                </a:solidFill>
              </a:rPr>
              <a:t>Praktikum</a:t>
            </a:r>
            <a:endParaRPr lang="en-ID" sz="3200" b="1" dirty="0">
              <a:solidFill>
                <a:schemeClr val="bg1"/>
              </a:solidFill>
            </a:endParaRPr>
          </a:p>
          <a:p>
            <a:pPr marL="285750" indent="-285750">
              <a:buFont typeface="Arial" panose="020B0604020202020204" pitchFamily="34" charset="0"/>
              <a:buChar char="•"/>
            </a:pPr>
            <a:r>
              <a:rPr lang="en-ID" sz="3200" b="1" dirty="0" err="1">
                <a:solidFill>
                  <a:schemeClr val="bg1"/>
                </a:solidFill>
              </a:rPr>
              <a:t>Tugas</a:t>
            </a:r>
            <a:r>
              <a:rPr lang="en-ID" sz="3200" b="1" dirty="0">
                <a:solidFill>
                  <a:schemeClr val="bg1"/>
                </a:solidFill>
              </a:rPr>
              <a:t> </a:t>
            </a:r>
            <a:r>
              <a:rPr lang="en-ID" sz="3200" b="1" dirty="0" err="1">
                <a:solidFill>
                  <a:schemeClr val="bg1"/>
                </a:solidFill>
              </a:rPr>
              <a:t>Harian</a:t>
            </a:r>
            <a:endParaRPr lang="en-ID" sz="3200" b="1" dirty="0">
              <a:solidFill>
                <a:schemeClr val="bg1"/>
              </a:solidFill>
            </a:endParaRPr>
          </a:p>
          <a:p>
            <a:pPr marL="285750" indent="-285750">
              <a:buFont typeface="Arial" panose="020B0604020202020204" pitchFamily="34" charset="0"/>
              <a:buChar char="•"/>
            </a:pPr>
            <a:r>
              <a:rPr lang="en-ID" sz="3200" b="1" dirty="0" err="1">
                <a:solidFill>
                  <a:schemeClr val="bg1"/>
                </a:solidFill>
              </a:rPr>
              <a:t>Tugas</a:t>
            </a:r>
            <a:r>
              <a:rPr lang="en-ID" sz="3200" b="1" dirty="0">
                <a:solidFill>
                  <a:schemeClr val="bg1"/>
                </a:solidFill>
              </a:rPr>
              <a:t> Project DWH </a:t>
            </a:r>
            <a:r>
              <a:rPr lang="en-ID" sz="3200" b="1" dirty="0" err="1">
                <a:solidFill>
                  <a:schemeClr val="bg1"/>
                </a:solidFill>
              </a:rPr>
              <a:t>serta</a:t>
            </a:r>
            <a:r>
              <a:rPr lang="en-ID" sz="3200" b="1" dirty="0">
                <a:solidFill>
                  <a:schemeClr val="bg1"/>
                </a:solidFill>
              </a:rPr>
              <a:t> </a:t>
            </a:r>
            <a:r>
              <a:rPr lang="en-ID" sz="3200" b="1" dirty="0" err="1">
                <a:solidFill>
                  <a:schemeClr val="bg1"/>
                </a:solidFill>
              </a:rPr>
              <a:t>PowerBI</a:t>
            </a:r>
            <a:endParaRPr lang="en-ID" sz="3200" b="1" dirty="0">
              <a:solidFill>
                <a:schemeClr val="bg1"/>
              </a:solidFill>
            </a:endParaRPr>
          </a:p>
        </p:txBody>
      </p:sp>
      <p:pic>
        <p:nvPicPr>
          <p:cNvPr id="3" name="Picture 2">
            <a:extLst>
              <a:ext uri="{FF2B5EF4-FFF2-40B4-BE49-F238E27FC236}">
                <a16:creationId xmlns:a16="http://schemas.microsoft.com/office/drawing/2014/main" id="{915A6F15-C3D4-5008-BE2D-B2B26AFC0B13}"/>
              </a:ext>
            </a:extLst>
          </p:cNvPr>
          <p:cNvPicPr>
            <a:picLocks noChangeAspect="1"/>
          </p:cNvPicPr>
          <p:nvPr/>
        </p:nvPicPr>
        <p:blipFill>
          <a:blip r:embed="rId3"/>
          <a:stretch>
            <a:fillRect/>
          </a:stretch>
        </p:blipFill>
        <p:spPr>
          <a:xfrm>
            <a:off x="6673594" y="1929284"/>
            <a:ext cx="5294076" cy="3200600"/>
          </a:xfrm>
          <a:prstGeom prst="rect">
            <a:avLst/>
          </a:prstGeom>
        </p:spPr>
      </p:pic>
    </p:spTree>
    <p:extLst>
      <p:ext uri="{BB962C8B-B14F-4D97-AF65-F5344CB8AC3E}">
        <p14:creationId xmlns:p14="http://schemas.microsoft.com/office/powerpoint/2010/main" val="205628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Pendahuluan</a:t>
            </a:r>
          </a:p>
        </p:txBody>
      </p:sp>
      <p:sp>
        <p:nvSpPr>
          <p:cNvPr id="3" name="Content Placeholder 2"/>
          <p:cNvSpPr>
            <a:spLocks noGrp="1"/>
          </p:cNvSpPr>
          <p:nvPr>
            <p:ph idx="1"/>
          </p:nvPr>
        </p:nvSpPr>
        <p:spPr>
          <a:xfrm>
            <a:off x="731520" y="2017467"/>
            <a:ext cx="10206527" cy="3834693"/>
          </a:xfrm>
        </p:spPr>
        <p:txBody>
          <a:bodyPr>
            <a:normAutofit/>
          </a:bodyPr>
          <a:lstStyle/>
          <a:p>
            <a:r>
              <a:rPr dirty="0"/>
              <a:t>Basis data </a:t>
            </a:r>
            <a:r>
              <a:rPr dirty="0" err="1"/>
              <a:t>adalah</a:t>
            </a:r>
            <a:r>
              <a:rPr dirty="0"/>
              <a:t> </a:t>
            </a:r>
            <a:r>
              <a:rPr b="1" dirty="0" err="1"/>
              <a:t>kumpulan</a:t>
            </a:r>
            <a:r>
              <a:rPr b="1" dirty="0"/>
              <a:t> data yang </a:t>
            </a:r>
            <a:r>
              <a:rPr b="1" dirty="0" err="1"/>
              <a:t>terorganisir</a:t>
            </a:r>
            <a:r>
              <a:rPr b="1" dirty="0"/>
              <a:t> </a:t>
            </a:r>
            <a:r>
              <a:rPr b="1" dirty="0" err="1"/>
              <a:t>secara</a:t>
            </a:r>
            <a:r>
              <a:rPr b="1" dirty="0"/>
              <a:t> </a:t>
            </a:r>
            <a:r>
              <a:rPr b="1" dirty="0" err="1"/>
              <a:t>logis</a:t>
            </a:r>
            <a:r>
              <a:rPr b="1" dirty="0"/>
              <a:t> </a:t>
            </a:r>
            <a:r>
              <a:rPr dirty="0" err="1"/>
              <a:t>untuk</a:t>
            </a:r>
            <a:r>
              <a:rPr dirty="0"/>
              <a:t> </a:t>
            </a:r>
            <a:r>
              <a:rPr b="1" dirty="0" err="1"/>
              <a:t>mendukung</a:t>
            </a:r>
            <a:r>
              <a:rPr b="1" dirty="0"/>
              <a:t> </a:t>
            </a:r>
            <a:r>
              <a:rPr b="1" dirty="0" err="1"/>
              <a:t>operasi</a:t>
            </a:r>
            <a:r>
              <a:rPr b="1" dirty="0"/>
              <a:t> </a:t>
            </a:r>
            <a:r>
              <a:rPr dirty="0" err="1"/>
              <a:t>bisnis</a:t>
            </a:r>
            <a:r>
              <a:rPr dirty="0"/>
              <a:t> dan </a:t>
            </a:r>
            <a:r>
              <a:rPr b="1" dirty="0" err="1"/>
              <a:t>pengambilan</a:t>
            </a:r>
            <a:r>
              <a:rPr b="1" dirty="0"/>
              <a:t> </a:t>
            </a:r>
            <a:r>
              <a:rPr b="1" dirty="0" err="1"/>
              <a:t>keputusan</a:t>
            </a:r>
            <a:r>
              <a:rPr dirty="0"/>
              <a:t>.</a:t>
            </a:r>
          </a:p>
          <a:p>
            <a:pPr marL="457200" indent="-457200">
              <a:buFont typeface="Arial" panose="020B0604020202020204" pitchFamily="34" charset="0"/>
              <a:buChar char="•"/>
            </a:pPr>
            <a:r>
              <a:rPr dirty="0" err="1"/>
              <a:t>Memfasilitasi</a:t>
            </a:r>
            <a:r>
              <a:rPr dirty="0"/>
              <a:t> </a:t>
            </a:r>
            <a:r>
              <a:rPr dirty="0" err="1"/>
              <a:t>penyimpanan</a:t>
            </a:r>
            <a:r>
              <a:rPr dirty="0"/>
              <a:t>, </a:t>
            </a:r>
            <a:r>
              <a:rPr dirty="0" err="1"/>
              <a:t>pengelolaan</a:t>
            </a:r>
            <a:r>
              <a:rPr dirty="0"/>
              <a:t>, dan </a:t>
            </a:r>
            <a:r>
              <a:rPr dirty="0" err="1"/>
              <a:t>pengambilan</a:t>
            </a:r>
            <a:r>
              <a:rPr dirty="0"/>
              <a:t> data yang </a:t>
            </a:r>
            <a:r>
              <a:rPr dirty="0" err="1"/>
              <a:t>efisien</a:t>
            </a:r>
            <a:r>
              <a:rPr dirty="0"/>
              <a:t>.</a:t>
            </a:r>
          </a:p>
          <a:p>
            <a:pPr marL="457200" indent="-457200">
              <a:buFont typeface="Arial" panose="020B0604020202020204" pitchFamily="34" charset="0"/>
              <a:buChar char="•"/>
            </a:pPr>
            <a:r>
              <a:rPr dirty="0" err="1"/>
              <a:t>Mendukung</a:t>
            </a:r>
            <a:r>
              <a:rPr dirty="0"/>
              <a:t> </a:t>
            </a:r>
            <a:r>
              <a:rPr dirty="0" err="1"/>
              <a:t>integritas</a:t>
            </a:r>
            <a:r>
              <a:rPr dirty="0"/>
              <a:t> data dan </a:t>
            </a:r>
            <a:r>
              <a:rPr dirty="0" err="1"/>
              <a:t>berbagi</a:t>
            </a:r>
            <a:r>
              <a:rPr dirty="0"/>
              <a:t> data </a:t>
            </a:r>
            <a:r>
              <a:rPr dirty="0" err="1"/>
              <a:t>antar</a:t>
            </a:r>
            <a:r>
              <a:rPr dirty="0"/>
              <a:t> </a:t>
            </a:r>
            <a:r>
              <a:rPr dirty="0" err="1"/>
              <a:t>departemen</a:t>
            </a:r>
            <a:r>
              <a:rPr dirty="0"/>
              <a:t>.</a:t>
            </a:r>
          </a:p>
          <a:p>
            <a:pPr marL="457200" indent="-457200">
              <a:buFont typeface="Arial" panose="020B0604020202020204" pitchFamily="34" charset="0"/>
              <a:buChar char="•"/>
            </a:pPr>
            <a:r>
              <a:rPr dirty="0" err="1"/>
              <a:t>Meningkatkan</a:t>
            </a:r>
            <a:r>
              <a:rPr dirty="0"/>
              <a:t> </a:t>
            </a:r>
            <a:r>
              <a:rPr dirty="0" err="1"/>
              <a:t>pengambilan</a:t>
            </a:r>
            <a:r>
              <a:rPr dirty="0"/>
              <a:t> </a:t>
            </a:r>
            <a:r>
              <a:rPr dirty="0" err="1"/>
              <a:t>keputusan</a:t>
            </a:r>
            <a:r>
              <a:rPr dirty="0"/>
              <a:t> </a:t>
            </a:r>
            <a:r>
              <a:rPr dirty="0" err="1"/>
              <a:t>berbasis</a:t>
            </a:r>
            <a:r>
              <a:rPr dirty="0"/>
              <a:t> data.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Keterbatasan Pemrosesan File Tradisional</a:t>
            </a:r>
          </a:p>
        </p:txBody>
      </p:sp>
      <p:sp>
        <p:nvSpPr>
          <p:cNvPr id="3" name="Content Placeholder 2"/>
          <p:cNvSpPr>
            <a:spLocks noGrp="1"/>
          </p:cNvSpPr>
          <p:nvPr>
            <p:ph idx="1"/>
          </p:nvPr>
        </p:nvSpPr>
        <p:spPr>
          <a:xfrm>
            <a:off x="1158865" y="2017467"/>
            <a:ext cx="9779182" cy="3898701"/>
          </a:xfrm>
        </p:spPr>
        <p:txBody>
          <a:bodyPr>
            <a:normAutofit/>
          </a:bodyPr>
          <a:lstStyle/>
          <a:p>
            <a:r>
              <a:rPr dirty="0" err="1"/>
              <a:t>Ketergantungan</a:t>
            </a:r>
            <a:r>
              <a:rPr dirty="0"/>
              <a:t> Program-Data: </a:t>
            </a:r>
            <a:r>
              <a:rPr dirty="0" err="1"/>
              <a:t>Setiap</a:t>
            </a:r>
            <a:r>
              <a:rPr dirty="0"/>
              <a:t> </a:t>
            </a:r>
            <a:r>
              <a:rPr dirty="0" err="1"/>
              <a:t>aplikasi</a:t>
            </a:r>
            <a:r>
              <a:rPr dirty="0"/>
              <a:t> </a:t>
            </a:r>
            <a:r>
              <a:rPr dirty="0" err="1"/>
              <a:t>harus</a:t>
            </a:r>
            <a:r>
              <a:rPr dirty="0"/>
              <a:t> </a:t>
            </a:r>
            <a:r>
              <a:rPr dirty="0" err="1"/>
              <a:t>mengelola</a:t>
            </a:r>
            <a:r>
              <a:rPr dirty="0"/>
              <a:t> </a:t>
            </a:r>
            <a:r>
              <a:rPr dirty="0" err="1"/>
              <a:t>datanya</a:t>
            </a:r>
            <a:r>
              <a:rPr dirty="0"/>
              <a:t> </a:t>
            </a:r>
            <a:r>
              <a:rPr dirty="0" err="1"/>
              <a:t>sendiri</a:t>
            </a:r>
            <a:r>
              <a:rPr dirty="0"/>
              <a:t>.</a:t>
            </a:r>
          </a:p>
          <a:p>
            <a:pPr marL="457200" indent="-457200">
              <a:buFont typeface="Arial" panose="020B0604020202020204" pitchFamily="34" charset="0"/>
              <a:buChar char="•"/>
            </a:pPr>
            <a:r>
              <a:rPr b="1" dirty="0" err="1"/>
              <a:t>Redundansi</a:t>
            </a:r>
            <a:r>
              <a:rPr b="1" dirty="0"/>
              <a:t> Data</a:t>
            </a:r>
            <a:r>
              <a:rPr dirty="0"/>
              <a:t>: Data yang </a:t>
            </a:r>
            <a:r>
              <a:rPr dirty="0" err="1"/>
              <a:t>sama</a:t>
            </a:r>
            <a:r>
              <a:rPr dirty="0"/>
              <a:t> </a:t>
            </a:r>
            <a:r>
              <a:rPr dirty="0" err="1"/>
              <a:t>disimpan</a:t>
            </a:r>
            <a:r>
              <a:rPr dirty="0"/>
              <a:t> di </a:t>
            </a:r>
            <a:r>
              <a:rPr dirty="0" err="1"/>
              <a:t>berbagai</a:t>
            </a:r>
            <a:r>
              <a:rPr dirty="0"/>
              <a:t> </a:t>
            </a:r>
            <a:r>
              <a:rPr dirty="0" err="1"/>
              <a:t>sistem</a:t>
            </a:r>
            <a:r>
              <a:rPr dirty="0"/>
              <a:t>/program.</a:t>
            </a:r>
          </a:p>
          <a:p>
            <a:pPr marL="457200" indent="-457200">
              <a:buFont typeface="Arial" panose="020B0604020202020204" pitchFamily="34" charset="0"/>
              <a:buChar char="•"/>
            </a:pPr>
            <a:r>
              <a:rPr b="1" dirty="0" err="1"/>
              <a:t>Integritas</a:t>
            </a:r>
            <a:r>
              <a:rPr b="1" dirty="0"/>
              <a:t> Data yang </a:t>
            </a:r>
            <a:r>
              <a:rPr b="1" dirty="0" err="1"/>
              <a:t>Lemah</a:t>
            </a:r>
            <a:r>
              <a:rPr dirty="0"/>
              <a:t>: Data yang </a:t>
            </a:r>
            <a:r>
              <a:rPr dirty="0" err="1"/>
              <a:t>tidak</a:t>
            </a:r>
            <a:r>
              <a:rPr dirty="0"/>
              <a:t> </a:t>
            </a:r>
            <a:r>
              <a:rPr dirty="0" err="1"/>
              <a:t>konsisten</a:t>
            </a:r>
            <a:r>
              <a:rPr dirty="0"/>
              <a:t> dan </a:t>
            </a:r>
            <a:r>
              <a:rPr dirty="0" err="1"/>
              <a:t>sulit</a:t>
            </a:r>
            <a:r>
              <a:rPr dirty="0"/>
              <a:t> </a:t>
            </a:r>
            <a:r>
              <a:rPr dirty="0" err="1"/>
              <a:t>dikelola</a:t>
            </a:r>
            <a:r>
              <a:rPr dirty="0"/>
              <a:t>.</a:t>
            </a:r>
          </a:p>
          <a:p>
            <a:pPr marL="457200" indent="-457200">
              <a:buFont typeface="Arial" panose="020B0604020202020204" pitchFamily="34" charset="0"/>
              <a:buChar char="•"/>
            </a:pPr>
            <a:r>
              <a:rPr b="1" dirty="0" err="1"/>
              <a:t>Keterbatasan</a:t>
            </a:r>
            <a:r>
              <a:rPr b="1" dirty="0"/>
              <a:t> </a:t>
            </a:r>
            <a:r>
              <a:rPr b="1" dirty="0" err="1"/>
              <a:t>Berbagi</a:t>
            </a:r>
            <a:r>
              <a:rPr b="1" dirty="0"/>
              <a:t> Data</a:t>
            </a:r>
            <a:r>
              <a:rPr dirty="0"/>
              <a:t>: </a:t>
            </a:r>
            <a:r>
              <a:rPr dirty="0" err="1"/>
              <a:t>Tidak</a:t>
            </a:r>
            <a:r>
              <a:rPr dirty="0"/>
              <a:t> </a:t>
            </a:r>
            <a:r>
              <a:rPr dirty="0" err="1"/>
              <a:t>ada</a:t>
            </a:r>
            <a:r>
              <a:rPr dirty="0"/>
              <a:t> </a:t>
            </a:r>
            <a:r>
              <a:rPr dirty="0" err="1"/>
              <a:t>kontrol</a:t>
            </a:r>
            <a:r>
              <a:rPr dirty="0"/>
              <a:t> </a:t>
            </a:r>
            <a:r>
              <a:rPr dirty="0" err="1"/>
              <a:t>pusat</a:t>
            </a:r>
            <a:r>
              <a:rPr dirty="0"/>
              <a:t> </a:t>
            </a:r>
            <a:r>
              <a:rPr dirty="0" err="1"/>
              <a:t>terhadap</a:t>
            </a:r>
            <a:r>
              <a:rPr dirty="0"/>
              <a:t> data.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58FB1-660B-4627-CE0C-17A13C1F71D5}"/>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CE572117-40F7-5D0B-3DF1-17D4781A3710}"/>
              </a:ext>
            </a:extLst>
          </p:cNvPr>
          <p:cNvSpPr>
            <a:spLocks noGrp="1"/>
          </p:cNvSpPr>
          <p:nvPr>
            <p:ph idx="1"/>
          </p:nvPr>
        </p:nvSpPr>
        <p:spPr/>
        <p:txBody>
          <a:bodyPr/>
          <a:lstStyle/>
          <a:p>
            <a:endParaRPr lang="en-ID"/>
          </a:p>
        </p:txBody>
      </p:sp>
      <p:pic>
        <p:nvPicPr>
          <p:cNvPr id="4" name="Picture 9" descr="Noname.gif">
            <a:extLst>
              <a:ext uri="{FF2B5EF4-FFF2-40B4-BE49-F238E27FC236}">
                <a16:creationId xmlns:a16="http://schemas.microsoft.com/office/drawing/2014/main" id="{9CE152C3-339A-16D6-6BDA-F315081398F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76455" y="516636"/>
            <a:ext cx="9144000" cy="507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56774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B4EBE-7260-FA39-4F70-7175FCF24D07}"/>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97C7C31B-B32C-F715-BC2A-8EE96B4CBBAC}"/>
              </a:ext>
            </a:extLst>
          </p:cNvPr>
          <p:cNvSpPr>
            <a:spLocks noGrp="1"/>
          </p:cNvSpPr>
          <p:nvPr>
            <p:ph idx="1"/>
          </p:nvPr>
        </p:nvSpPr>
        <p:spPr/>
        <p:txBody>
          <a:bodyPr/>
          <a:lstStyle/>
          <a:p>
            <a:endParaRPr lang="en-ID"/>
          </a:p>
        </p:txBody>
      </p:sp>
      <p:pic>
        <p:nvPicPr>
          <p:cNvPr id="4" name="Picture 3" descr="What is PLM - Serial Process">
            <a:extLst>
              <a:ext uri="{FF2B5EF4-FFF2-40B4-BE49-F238E27FC236}">
                <a16:creationId xmlns:a16="http://schemas.microsoft.com/office/drawing/2014/main" id="{AC43BEF6-2094-A747-31BA-E37ACC8847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2717" y="1157086"/>
            <a:ext cx="7991475" cy="39220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9251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Pendekatan Basis Data</a:t>
            </a:r>
          </a:p>
        </p:txBody>
      </p:sp>
      <p:sp>
        <p:nvSpPr>
          <p:cNvPr id="3" name="Content Placeholder 2"/>
          <p:cNvSpPr>
            <a:spLocks noGrp="1"/>
          </p:cNvSpPr>
          <p:nvPr>
            <p:ph idx="1"/>
          </p:nvPr>
        </p:nvSpPr>
        <p:spPr/>
        <p:txBody>
          <a:bodyPr/>
          <a:lstStyle/>
          <a:p>
            <a:r>
              <a:rPr lang="en-ID" dirty="0"/>
              <a:t> </a:t>
            </a:r>
            <a:r>
              <a:rPr dirty="0"/>
              <a:t>DBMS (Database Management System): </a:t>
            </a:r>
            <a:r>
              <a:rPr dirty="0" err="1"/>
              <a:t>Mengelola</a:t>
            </a:r>
            <a:r>
              <a:rPr dirty="0"/>
              <a:t> data </a:t>
            </a:r>
            <a:r>
              <a:rPr dirty="0" err="1"/>
              <a:t>secara</a:t>
            </a:r>
            <a:r>
              <a:rPr dirty="0"/>
              <a:t> </a:t>
            </a:r>
            <a:r>
              <a:rPr dirty="0" err="1"/>
              <a:t>terpusat</a:t>
            </a:r>
            <a:r>
              <a:rPr dirty="0"/>
              <a:t>.</a:t>
            </a:r>
          </a:p>
          <a:p>
            <a:r>
              <a:rPr lang="en-ID" dirty="0"/>
              <a:t> </a:t>
            </a:r>
            <a:r>
              <a:rPr dirty="0" err="1"/>
              <a:t>Keuntungan</a:t>
            </a:r>
            <a:r>
              <a:rPr dirty="0"/>
              <a:t> DBMS:</a:t>
            </a:r>
          </a:p>
          <a:p>
            <a:pPr marL="457200" indent="-457200">
              <a:buFont typeface="Arial" panose="020B0604020202020204" pitchFamily="34" charset="0"/>
              <a:buChar char="•"/>
            </a:pPr>
            <a:r>
              <a:rPr dirty="0"/>
              <a:t>  </a:t>
            </a:r>
            <a:r>
              <a:rPr lang="en-ID" dirty="0"/>
              <a:t> </a:t>
            </a:r>
            <a:r>
              <a:rPr dirty="0" err="1"/>
              <a:t>Meningkatkan</a:t>
            </a:r>
            <a:r>
              <a:rPr dirty="0"/>
              <a:t> </a:t>
            </a:r>
            <a:r>
              <a:rPr dirty="0" err="1"/>
              <a:t>integritas</a:t>
            </a:r>
            <a:r>
              <a:rPr dirty="0"/>
              <a:t> data.</a:t>
            </a:r>
          </a:p>
          <a:p>
            <a:pPr marL="457200" indent="-457200">
              <a:buFont typeface="Arial" panose="020B0604020202020204" pitchFamily="34" charset="0"/>
              <a:buChar char="•"/>
            </a:pPr>
            <a:r>
              <a:rPr dirty="0"/>
              <a:t>  </a:t>
            </a:r>
            <a:r>
              <a:rPr lang="en-ID" dirty="0"/>
              <a:t> </a:t>
            </a:r>
            <a:r>
              <a:rPr dirty="0" err="1"/>
              <a:t>Mengurangi</a:t>
            </a:r>
            <a:r>
              <a:rPr dirty="0"/>
              <a:t> </a:t>
            </a:r>
            <a:r>
              <a:rPr dirty="0" err="1"/>
              <a:t>redundansi</a:t>
            </a:r>
            <a:r>
              <a:rPr dirty="0"/>
              <a:t>.</a:t>
            </a:r>
          </a:p>
          <a:p>
            <a:pPr marL="457200" indent="-457200">
              <a:buFont typeface="Arial" panose="020B0604020202020204" pitchFamily="34" charset="0"/>
              <a:buChar char="•"/>
            </a:pPr>
            <a:r>
              <a:rPr dirty="0"/>
              <a:t>  </a:t>
            </a:r>
            <a:r>
              <a:rPr lang="en-ID" dirty="0"/>
              <a:t> </a:t>
            </a:r>
            <a:r>
              <a:rPr dirty="0" err="1"/>
              <a:t>Meningkatkan</a:t>
            </a:r>
            <a:r>
              <a:rPr dirty="0"/>
              <a:t> </a:t>
            </a:r>
            <a:r>
              <a:rPr dirty="0" err="1"/>
              <a:t>aksesibilitas</a:t>
            </a:r>
            <a:r>
              <a:rPr dirty="0"/>
              <a:t> dan </a:t>
            </a:r>
            <a:r>
              <a:rPr dirty="0" err="1"/>
              <a:t>keamanan</a:t>
            </a:r>
            <a:r>
              <a:rPr dirty="0"/>
              <a:t> data.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12507CF5-9901-91FA-B1D6-5C4F1B0A46CC}"/>
              </a:ext>
            </a:extLst>
          </p:cNvPr>
          <p:cNvSpPr>
            <a:spLocks noGrp="1" noChangeArrowheads="1"/>
          </p:cNvSpPr>
          <p:nvPr>
            <p:ph type="title"/>
          </p:nvPr>
        </p:nvSpPr>
        <p:spPr>
          <a:xfrm>
            <a:off x="2238376" y="152401"/>
            <a:ext cx="7468263" cy="556113"/>
          </a:xfrm>
        </p:spPr>
        <p:txBody>
          <a:bodyPr vert="horz" wrap="none" lIns="41275" tIns="17462" rIns="41275" bIns="17462" rtlCol="0" anchor="t">
            <a:spAutoFit/>
          </a:bodyPr>
          <a:lstStyle/>
          <a:p>
            <a:pPr defTabSz="804863">
              <a:defRPr/>
            </a:pPr>
            <a:r>
              <a:rPr lang="en-US">
                <a:solidFill>
                  <a:srgbClr val="000000"/>
                </a:solidFill>
                <a:effectLst>
                  <a:outerShdw blurRad="38100" dist="38100" dir="2700000" algn="tl">
                    <a:srgbClr val="FFFFFF"/>
                  </a:outerShdw>
                </a:effectLst>
              </a:rPr>
              <a:t>Database Management System</a:t>
            </a:r>
          </a:p>
        </p:txBody>
      </p:sp>
      <p:sp>
        <p:nvSpPr>
          <p:cNvPr id="29700" name="Text Box 81">
            <a:extLst>
              <a:ext uri="{FF2B5EF4-FFF2-40B4-BE49-F238E27FC236}">
                <a16:creationId xmlns:a16="http://schemas.microsoft.com/office/drawing/2014/main" id="{75A5EFE9-1D99-0BFD-347A-68E3C91C6516}"/>
              </a:ext>
            </a:extLst>
          </p:cNvPr>
          <p:cNvSpPr txBox="1">
            <a:spLocks noChangeArrowheads="1"/>
          </p:cNvSpPr>
          <p:nvPr/>
        </p:nvSpPr>
        <p:spPr bwMode="auto">
          <a:xfrm>
            <a:off x="249238" y="5998497"/>
            <a:ext cx="74682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9pPr>
          </a:lstStyle>
          <a:p>
            <a:pPr>
              <a:spcBef>
                <a:spcPct val="50000"/>
              </a:spcBef>
              <a:buClrTx/>
              <a:buSzTx/>
              <a:buFontTx/>
              <a:buNone/>
            </a:pPr>
            <a:r>
              <a:rPr lang="en-US" altLang="en-US" sz="1800" i="1" dirty="0">
                <a:solidFill>
                  <a:srgbClr val="000000"/>
                </a:solidFill>
                <a:latin typeface="Tahoma" panose="020B0604030504040204" pitchFamily="34" charset="0"/>
                <a:cs typeface="Tahoma" panose="020B0604030504040204" pitchFamily="34" charset="0"/>
              </a:rPr>
              <a:t>DBMS manages data resources like an operating system manages hardware resources</a:t>
            </a:r>
            <a:endParaRPr lang="en-US" altLang="en-US" sz="1800" dirty="0">
              <a:solidFill>
                <a:srgbClr val="000000"/>
              </a:solidFill>
              <a:latin typeface="Tahoma" panose="020B0604030504040204" pitchFamily="34" charset="0"/>
              <a:cs typeface="Tahoma" panose="020B0604030504040204" pitchFamily="34" charset="0"/>
            </a:endParaRPr>
          </a:p>
        </p:txBody>
      </p:sp>
      <p:sp>
        <p:nvSpPr>
          <p:cNvPr id="29701" name="Rectangle 126">
            <a:extLst>
              <a:ext uri="{FF2B5EF4-FFF2-40B4-BE49-F238E27FC236}">
                <a16:creationId xmlns:a16="http://schemas.microsoft.com/office/drawing/2014/main" id="{3A82BD97-CFA2-901C-37EB-24D904987332}"/>
              </a:ext>
            </a:extLst>
          </p:cNvPr>
          <p:cNvSpPr>
            <a:spLocks noChangeArrowheads="1"/>
          </p:cNvSpPr>
          <p:nvPr/>
        </p:nvSpPr>
        <p:spPr bwMode="auto">
          <a:xfrm>
            <a:off x="2297113" y="1177925"/>
            <a:ext cx="7772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9pPr>
          </a:lstStyle>
          <a:p>
            <a:pPr eaLnBrk="1" hangingPunct="1">
              <a:buClr>
                <a:schemeClr val="bg1"/>
              </a:buClr>
              <a:buSzPct val="65000"/>
              <a:buFont typeface="Wingdings" panose="05000000000000000000" pitchFamily="2" charset="2"/>
              <a:buChar char="n"/>
            </a:pPr>
            <a:r>
              <a:rPr lang="en-US" altLang="en-US" sz="2000">
                <a:solidFill>
                  <a:srgbClr val="000000"/>
                </a:solidFill>
                <a:latin typeface="Tahoma" panose="020B0604030504040204" pitchFamily="34" charset="0"/>
              </a:rPr>
              <a:t>A software system that is used to create, maintain, and provide controlled access to user databases</a:t>
            </a:r>
          </a:p>
        </p:txBody>
      </p:sp>
      <p:sp>
        <p:nvSpPr>
          <p:cNvPr id="29702" name="Rectangle 131">
            <a:extLst>
              <a:ext uri="{FF2B5EF4-FFF2-40B4-BE49-F238E27FC236}">
                <a16:creationId xmlns:a16="http://schemas.microsoft.com/office/drawing/2014/main" id="{002F2C5C-893A-E20E-E685-85011789E595}"/>
              </a:ext>
            </a:extLst>
          </p:cNvPr>
          <p:cNvSpPr>
            <a:spLocks noChangeArrowheads="1"/>
          </p:cNvSpPr>
          <p:nvPr/>
        </p:nvSpPr>
        <p:spPr bwMode="auto">
          <a:xfrm>
            <a:off x="2514600" y="2084388"/>
            <a:ext cx="1676400" cy="914400"/>
          </a:xfrm>
          <a:prstGeom prst="rect">
            <a:avLst/>
          </a:prstGeom>
          <a:solidFill>
            <a:srgbClr val="969696"/>
          </a:solidFill>
          <a:ln w="25400">
            <a:solidFill>
              <a:srgbClr val="990000"/>
            </a:solidFill>
            <a:miter lim="800000"/>
            <a:headEnd/>
            <a:tailEnd/>
          </a:ln>
        </p:spPr>
        <p:txBody>
          <a:bodyPr wrap="none" anchor="ct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9pPr>
          </a:lstStyle>
          <a:p>
            <a:pPr algn="ctr" eaLnBrk="1" hangingPunct="1">
              <a:spcBef>
                <a:spcPct val="0"/>
              </a:spcBef>
              <a:buClrTx/>
              <a:buSzTx/>
              <a:buFontTx/>
              <a:buNone/>
            </a:pPr>
            <a:r>
              <a:rPr lang="en-US" altLang="en-US" sz="1800">
                <a:solidFill>
                  <a:schemeClr val="tx1"/>
                </a:solidFill>
                <a:latin typeface="Tahoma" panose="020B0604030504040204" pitchFamily="34" charset="0"/>
              </a:rPr>
              <a:t>Order Filing</a:t>
            </a:r>
          </a:p>
          <a:p>
            <a:pPr algn="ctr" eaLnBrk="1" hangingPunct="1">
              <a:spcBef>
                <a:spcPct val="0"/>
              </a:spcBef>
              <a:buClrTx/>
              <a:buSzTx/>
              <a:buFontTx/>
              <a:buNone/>
            </a:pPr>
            <a:r>
              <a:rPr lang="en-US" altLang="en-US" sz="1800">
                <a:solidFill>
                  <a:schemeClr val="tx1"/>
                </a:solidFill>
                <a:latin typeface="Tahoma" panose="020B0604030504040204" pitchFamily="34" charset="0"/>
              </a:rPr>
              <a:t> System</a:t>
            </a:r>
          </a:p>
        </p:txBody>
      </p:sp>
      <p:sp>
        <p:nvSpPr>
          <p:cNvPr id="29703" name="Rectangle 133">
            <a:extLst>
              <a:ext uri="{FF2B5EF4-FFF2-40B4-BE49-F238E27FC236}">
                <a16:creationId xmlns:a16="http://schemas.microsoft.com/office/drawing/2014/main" id="{068CA968-E740-C914-45C3-636EE180E910}"/>
              </a:ext>
            </a:extLst>
          </p:cNvPr>
          <p:cNvSpPr>
            <a:spLocks noChangeArrowheads="1"/>
          </p:cNvSpPr>
          <p:nvPr/>
        </p:nvSpPr>
        <p:spPr bwMode="auto">
          <a:xfrm>
            <a:off x="2514600" y="3227388"/>
            <a:ext cx="1676400" cy="914400"/>
          </a:xfrm>
          <a:prstGeom prst="rect">
            <a:avLst/>
          </a:prstGeom>
          <a:solidFill>
            <a:srgbClr val="969696"/>
          </a:solidFill>
          <a:ln w="25400">
            <a:solidFill>
              <a:srgbClr val="990000"/>
            </a:solidFill>
            <a:miter lim="800000"/>
            <a:headEnd/>
            <a:tailEnd/>
          </a:ln>
        </p:spPr>
        <p:txBody>
          <a:bodyPr wrap="none" anchor="ct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9pPr>
          </a:lstStyle>
          <a:p>
            <a:pPr algn="ctr" eaLnBrk="1" hangingPunct="1">
              <a:spcBef>
                <a:spcPct val="0"/>
              </a:spcBef>
              <a:buClrTx/>
              <a:buSzTx/>
              <a:buFontTx/>
              <a:buNone/>
            </a:pPr>
            <a:r>
              <a:rPr lang="en-US" altLang="en-US" sz="1800">
                <a:solidFill>
                  <a:schemeClr val="tx1"/>
                </a:solidFill>
                <a:latin typeface="Tahoma" panose="020B0604030504040204" pitchFamily="34" charset="0"/>
              </a:rPr>
              <a:t>Invoicing</a:t>
            </a:r>
          </a:p>
          <a:p>
            <a:pPr algn="ctr" eaLnBrk="1" hangingPunct="1">
              <a:spcBef>
                <a:spcPct val="0"/>
              </a:spcBef>
              <a:buClrTx/>
              <a:buSzTx/>
              <a:buFontTx/>
              <a:buNone/>
            </a:pPr>
            <a:r>
              <a:rPr lang="en-US" altLang="en-US" sz="1800">
                <a:solidFill>
                  <a:schemeClr val="tx1"/>
                </a:solidFill>
                <a:latin typeface="Tahoma" panose="020B0604030504040204" pitchFamily="34" charset="0"/>
              </a:rPr>
              <a:t> System</a:t>
            </a:r>
          </a:p>
        </p:txBody>
      </p:sp>
      <p:sp>
        <p:nvSpPr>
          <p:cNvPr id="29704" name="Rectangle 134">
            <a:extLst>
              <a:ext uri="{FF2B5EF4-FFF2-40B4-BE49-F238E27FC236}">
                <a16:creationId xmlns:a16="http://schemas.microsoft.com/office/drawing/2014/main" id="{3A16FA52-A1A6-5BA0-8C65-F3AEF02DBFF1}"/>
              </a:ext>
            </a:extLst>
          </p:cNvPr>
          <p:cNvSpPr>
            <a:spLocks noChangeArrowheads="1"/>
          </p:cNvSpPr>
          <p:nvPr/>
        </p:nvSpPr>
        <p:spPr bwMode="auto">
          <a:xfrm>
            <a:off x="2514600" y="4370388"/>
            <a:ext cx="1676400" cy="914400"/>
          </a:xfrm>
          <a:prstGeom prst="rect">
            <a:avLst/>
          </a:prstGeom>
          <a:solidFill>
            <a:srgbClr val="969696"/>
          </a:solidFill>
          <a:ln w="25400">
            <a:solidFill>
              <a:srgbClr val="990000"/>
            </a:solidFill>
            <a:miter lim="800000"/>
            <a:headEnd/>
            <a:tailEnd/>
          </a:ln>
        </p:spPr>
        <p:txBody>
          <a:bodyPr wrap="none" anchor="ct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9pPr>
          </a:lstStyle>
          <a:p>
            <a:pPr algn="ctr" eaLnBrk="1" hangingPunct="1">
              <a:spcBef>
                <a:spcPct val="0"/>
              </a:spcBef>
              <a:buClrTx/>
              <a:buSzTx/>
              <a:buFontTx/>
              <a:buNone/>
            </a:pPr>
            <a:r>
              <a:rPr lang="en-US" altLang="en-US" sz="1800">
                <a:solidFill>
                  <a:schemeClr val="tx1"/>
                </a:solidFill>
                <a:latin typeface="Tahoma" panose="020B0604030504040204" pitchFamily="34" charset="0"/>
              </a:rPr>
              <a:t>Payroll</a:t>
            </a:r>
          </a:p>
          <a:p>
            <a:pPr algn="ctr" eaLnBrk="1" hangingPunct="1">
              <a:spcBef>
                <a:spcPct val="0"/>
              </a:spcBef>
              <a:buClrTx/>
              <a:buSzTx/>
              <a:buFontTx/>
              <a:buNone/>
            </a:pPr>
            <a:r>
              <a:rPr lang="en-US" altLang="en-US" sz="1800">
                <a:solidFill>
                  <a:schemeClr val="tx1"/>
                </a:solidFill>
                <a:latin typeface="Tahoma" panose="020B0604030504040204" pitchFamily="34" charset="0"/>
              </a:rPr>
              <a:t> System</a:t>
            </a:r>
          </a:p>
        </p:txBody>
      </p:sp>
      <p:sp>
        <p:nvSpPr>
          <p:cNvPr id="29705" name="Rectangle 135">
            <a:extLst>
              <a:ext uri="{FF2B5EF4-FFF2-40B4-BE49-F238E27FC236}">
                <a16:creationId xmlns:a16="http://schemas.microsoft.com/office/drawing/2014/main" id="{863C5E09-3A2E-D576-5428-CDF226C81298}"/>
              </a:ext>
            </a:extLst>
          </p:cNvPr>
          <p:cNvSpPr>
            <a:spLocks noChangeArrowheads="1"/>
          </p:cNvSpPr>
          <p:nvPr/>
        </p:nvSpPr>
        <p:spPr bwMode="auto">
          <a:xfrm>
            <a:off x="5562600" y="3227388"/>
            <a:ext cx="1676400" cy="914400"/>
          </a:xfrm>
          <a:prstGeom prst="rect">
            <a:avLst/>
          </a:prstGeom>
          <a:solidFill>
            <a:srgbClr val="969696"/>
          </a:solidFill>
          <a:ln w="25400">
            <a:solidFill>
              <a:srgbClr val="990000"/>
            </a:solidFill>
            <a:miter lim="800000"/>
            <a:headEnd/>
            <a:tailEnd/>
          </a:ln>
        </p:spPr>
        <p:txBody>
          <a:bodyPr wrap="none" anchor="ct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9pPr>
          </a:lstStyle>
          <a:p>
            <a:pPr algn="ctr" eaLnBrk="1" hangingPunct="1">
              <a:spcBef>
                <a:spcPct val="0"/>
              </a:spcBef>
              <a:buClrTx/>
              <a:buSzTx/>
              <a:buFontTx/>
              <a:buNone/>
            </a:pPr>
            <a:r>
              <a:rPr lang="en-US" altLang="en-US" sz="1800">
                <a:solidFill>
                  <a:schemeClr val="tx1"/>
                </a:solidFill>
                <a:latin typeface="Tahoma" panose="020B0604030504040204" pitchFamily="34" charset="0"/>
              </a:rPr>
              <a:t>DBMS</a:t>
            </a:r>
          </a:p>
        </p:txBody>
      </p:sp>
      <p:sp>
        <p:nvSpPr>
          <p:cNvPr id="29706" name="Line 136">
            <a:extLst>
              <a:ext uri="{FF2B5EF4-FFF2-40B4-BE49-F238E27FC236}">
                <a16:creationId xmlns:a16="http://schemas.microsoft.com/office/drawing/2014/main" id="{3D3A69BF-2E56-78E9-7E52-4E9248EDDE86}"/>
              </a:ext>
            </a:extLst>
          </p:cNvPr>
          <p:cNvSpPr>
            <a:spLocks noChangeShapeType="1"/>
          </p:cNvSpPr>
          <p:nvPr/>
        </p:nvSpPr>
        <p:spPr bwMode="auto">
          <a:xfrm>
            <a:off x="4191000" y="2465388"/>
            <a:ext cx="1371600" cy="83820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wrap="none"/>
          <a:lstStyle/>
          <a:p>
            <a:endParaRPr lang="en-ID"/>
          </a:p>
        </p:txBody>
      </p:sp>
      <p:sp>
        <p:nvSpPr>
          <p:cNvPr id="29707" name="Line 137">
            <a:extLst>
              <a:ext uri="{FF2B5EF4-FFF2-40B4-BE49-F238E27FC236}">
                <a16:creationId xmlns:a16="http://schemas.microsoft.com/office/drawing/2014/main" id="{136DF923-33AF-2C6E-AEA2-1B037CC32B74}"/>
              </a:ext>
            </a:extLst>
          </p:cNvPr>
          <p:cNvSpPr>
            <a:spLocks noChangeShapeType="1"/>
          </p:cNvSpPr>
          <p:nvPr/>
        </p:nvSpPr>
        <p:spPr bwMode="auto">
          <a:xfrm>
            <a:off x="4191000" y="3684588"/>
            <a:ext cx="1371600" cy="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wrap="none"/>
          <a:lstStyle/>
          <a:p>
            <a:endParaRPr lang="en-ID"/>
          </a:p>
        </p:txBody>
      </p:sp>
      <p:sp>
        <p:nvSpPr>
          <p:cNvPr id="29708" name="Line 138">
            <a:extLst>
              <a:ext uri="{FF2B5EF4-FFF2-40B4-BE49-F238E27FC236}">
                <a16:creationId xmlns:a16="http://schemas.microsoft.com/office/drawing/2014/main" id="{8BF56EF2-5A82-3800-622D-0BEF81C5B660}"/>
              </a:ext>
            </a:extLst>
          </p:cNvPr>
          <p:cNvSpPr>
            <a:spLocks noChangeShapeType="1"/>
          </p:cNvSpPr>
          <p:nvPr/>
        </p:nvSpPr>
        <p:spPr bwMode="auto">
          <a:xfrm flipV="1">
            <a:off x="4191000" y="3989388"/>
            <a:ext cx="1371600" cy="83820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wrap="none"/>
          <a:lstStyle/>
          <a:p>
            <a:endParaRPr lang="en-ID"/>
          </a:p>
        </p:txBody>
      </p:sp>
      <p:sp>
        <p:nvSpPr>
          <p:cNvPr id="29709" name="AutoShape 139">
            <a:extLst>
              <a:ext uri="{FF2B5EF4-FFF2-40B4-BE49-F238E27FC236}">
                <a16:creationId xmlns:a16="http://schemas.microsoft.com/office/drawing/2014/main" id="{365B13E7-2230-084C-5BFC-0378CAA4F58B}"/>
              </a:ext>
            </a:extLst>
          </p:cNvPr>
          <p:cNvSpPr>
            <a:spLocks noChangeArrowheads="1"/>
          </p:cNvSpPr>
          <p:nvPr/>
        </p:nvSpPr>
        <p:spPr bwMode="auto">
          <a:xfrm>
            <a:off x="8077200" y="2160588"/>
            <a:ext cx="2209800" cy="3200400"/>
          </a:xfrm>
          <a:prstGeom prst="flowChartMagneticDisk">
            <a:avLst/>
          </a:prstGeom>
          <a:solidFill>
            <a:srgbClr val="969696"/>
          </a:solidFill>
          <a:ln w="25400">
            <a:solidFill>
              <a:srgbClr val="990000"/>
            </a:solidFill>
            <a:round/>
            <a:headEnd/>
            <a:tailEnd/>
          </a:ln>
        </p:spPr>
        <p:txBody>
          <a:bodyPr wrap="none" anchor="ct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9pPr>
          </a:lstStyle>
          <a:p>
            <a:pPr algn="ctr" eaLnBrk="1" hangingPunct="1">
              <a:spcBef>
                <a:spcPct val="0"/>
              </a:spcBef>
              <a:buClrTx/>
              <a:buSzTx/>
              <a:buFontTx/>
              <a:buNone/>
            </a:pPr>
            <a:endParaRPr lang="en-US" altLang="en-US" sz="1800">
              <a:solidFill>
                <a:schemeClr val="tx1"/>
              </a:solidFill>
              <a:latin typeface="Tahoma" panose="020B0604030504040204" pitchFamily="34" charset="0"/>
            </a:endParaRPr>
          </a:p>
          <a:p>
            <a:pPr algn="ctr" eaLnBrk="1" hangingPunct="1">
              <a:spcBef>
                <a:spcPct val="0"/>
              </a:spcBef>
              <a:buClrTx/>
              <a:buSzTx/>
              <a:buFontTx/>
              <a:buNone/>
            </a:pPr>
            <a:r>
              <a:rPr lang="en-US" altLang="en-US" sz="1800">
                <a:solidFill>
                  <a:schemeClr val="tx1"/>
                </a:solidFill>
                <a:latin typeface="Tahoma" panose="020B0604030504040204" pitchFamily="34" charset="0"/>
              </a:rPr>
              <a:t>Central database</a:t>
            </a:r>
          </a:p>
          <a:p>
            <a:pPr algn="ctr" eaLnBrk="1" hangingPunct="1">
              <a:spcBef>
                <a:spcPct val="0"/>
              </a:spcBef>
              <a:buClrTx/>
              <a:buSzTx/>
              <a:buFontTx/>
              <a:buNone/>
            </a:pPr>
            <a:endParaRPr lang="en-US" altLang="en-US" sz="1800">
              <a:solidFill>
                <a:schemeClr val="tx1"/>
              </a:solidFill>
              <a:latin typeface="Tahoma" panose="020B0604030504040204" pitchFamily="34" charset="0"/>
            </a:endParaRPr>
          </a:p>
          <a:p>
            <a:pPr algn="ctr" eaLnBrk="1" hangingPunct="1">
              <a:spcBef>
                <a:spcPct val="0"/>
              </a:spcBef>
              <a:buClrTx/>
              <a:buSzTx/>
              <a:buFontTx/>
              <a:buNone/>
            </a:pPr>
            <a:r>
              <a:rPr lang="en-US" altLang="en-US" sz="1800">
                <a:solidFill>
                  <a:schemeClr val="tx1"/>
                </a:solidFill>
                <a:latin typeface="Tahoma" panose="020B0604030504040204" pitchFamily="34" charset="0"/>
              </a:rPr>
              <a:t>Contains employee,</a:t>
            </a:r>
          </a:p>
          <a:p>
            <a:pPr algn="ctr" eaLnBrk="1" hangingPunct="1">
              <a:spcBef>
                <a:spcPct val="0"/>
              </a:spcBef>
              <a:buClrTx/>
              <a:buSzTx/>
              <a:buFontTx/>
              <a:buNone/>
            </a:pPr>
            <a:r>
              <a:rPr lang="en-US" altLang="en-US" sz="1800">
                <a:solidFill>
                  <a:schemeClr val="tx1"/>
                </a:solidFill>
                <a:latin typeface="Tahoma" panose="020B0604030504040204" pitchFamily="34" charset="0"/>
              </a:rPr>
              <a:t>order, inventory, </a:t>
            </a:r>
          </a:p>
          <a:p>
            <a:pPr algn="ctr" eaLnBrk="1" hangingPunct="1">
              <a:spcBef>
                <a:spcPct val="0"/>
              </a:spcBef>
              <a:buClrTx/>
              <a:buSzTx/>
              <a:buFontTx/>
              <a:buNone/>
            </a:pPr>
            <a:r>
              <a:rPr lang="en-US" altLang="en-US" sz="1800">
                <a:solidFill>
                  <a:schemeClr val="tx1"/>
                </a:solidFill>
                <a:latin typeface="Tahoma" panose="020B0604030504040204" pitchFamily="34" charset="0"/>
              </a:rPr>
              <a:t>pricing, and </a:t>
            </a:r>
          </a:p>
          <a:p>
            <a:pPr algn="ctr" eaLnBrk="1" hangingPunct="1">
              <a:spcBef>
                <a:spcPct val="0"/>
              </a:spcBef>
              <a:buClrTx/>
              <a:buSzTx/>
              <a:buFontTx/>
              <a:buNone/>
            </a:pPr>
            <a:r>
              <a:rPr lang="en-US" altLang="en-US" sz="1800">
                <a:solidFill>
                  <a:schemeClr val="tx1"/>
                </a:solidFill>
                <a:latin typeface="Tahoma" panose="020B0604030504040204" pitchFamily="34" charset="0"/>
              </a:rPr>
              <a:t>customer data</a:t>
            </a:r>
          </a:p>
        </p:txBody>
      </p:sp>
      <p:sp>
        <p:nvSpPr>
          <p:cNvPr id="29710" name="Line 140">
            <a:extLst>
              <a:ext uri="{FF2B5EF4-FFF2-40B4-BE49-F238E27FC236}">
                <a16:creationId xmlns:a16="http://schemas.microsoft.com/office/drawing/2014/main" id="{09E11FFC-E013-993C-188B-C0E3428329A4}"/>
              </a:ext>
            </a:extLst>
          </p:cNvPr>
          <p:cNvSpPr>
            <a:spLocks noChangeShapeType="1"/>
          </p:cNvSpPr>
          <p:nvPr/>
        </p:nvSpPr>
        <p:spPr bwMode="auto">
          <a:xfrm>
            <a:off x="7239000" y="3684588"/>
            <a:ext cx="838200" cy="0"/>
          </a:xfrm>
          <a:prstGeom prst="line">
            <a:avLst/>
          </a:prstGeom>
          <a:noFill/>
          <a:ln w="25400">
            <a:solidFill>
              <a:srgbClr val="990000"/>
            </a:solidFill>
            <a:round/>
            <a:headEnd/>
            <a:tailEnd/>
          </a:ln>
          <a:extLst>
            <a:ext uri="{909E8E84-426E-40DD-AFC4-6F175D3DCCD1}">
              <a14:hiddenFill xmlns:a14="http://schemas.microsoft.com/office/drawing/2010/main">
                <a:noFill/>
              </a14:hiddenFill>
            </a:ext>
          </a:extLst>
        </p:spPr>
        <p:txBody>
          <a:bodyPr wrap="none"/>
          <a:lstStyle/>
          <a:p>
            <a:endParaRPr lang="en-ID"/>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51C48-9CDF-E2D7-C3CC-2BEFB135CFC8}"/>
              </a:ext>
            </a:extLst>
          </p:cNvPr>
          <p:cNvSpPr>
            <a:spLocks noGrp="1"/>
          </p:cNvSpPr>
          <p:nvPr>
            <p:ph type="title"/>
          </p:nvPr>
        </p:nvSpPr>
        <p:spPr/>
        <p:txBody>
          <a:bodyPr/>
          <a:lstStyle/>
          <a:p>
            <a:r>
              <a:rPr lang="en-ID" dirty="0" err="1"/>
              <a:t>Keunggulan</a:t>
            </a:r>
            <a:r>
              <a:rPr lang="en-ID" dirty="0"/>
              <a:t> DBMS:</a:t>
            </a:r>
          </a:p>
        </p:txBody>
      </p:sp>
      <p:sp>
        <p:nvSpPr>
          <p:cNvPr id="3" name="Content Placeholder 2">
            <a:extLst>
              <a:ext uri="{FF2B5EF4-FFF2-40B4-BE49-F238E27FC236}">
                <a16:creationId xmlns:a16="http://schemas.microsoft.com/office/drawing/2014/main" id="{9AA934A0-0E75-B88B-8DB5-1B2D3B95C053}"/>
              </a:ext>
            </a:extLst>
          </p:cNvPr>
          <p:cNvSpPr>
            <a:spLocks noGrp="1"/>
          </p:cNvSpPr>
          <p:nvPr>
            <p:ph idx="1"/>
          </p:nvPr>
        </p:nvSpPr>
        <p:spPr/>
        <p:txBody>
          <a:bodyPr/>
          <a:lstStyle/>
          <a:p>
            <a:pPr marL="457200" indent="-457200">
              <a:buFont typeface="Arial" panose="020B0604020202020204" pitchFamily="34" charset="0"/>
              <a:buChar char="•"/>
            </a:pPr>
            <a:r>
              <a:rPr lang="en-ID" dirty="0" err="1"/>
              <a:t>Mempromosikan</a:t>
            </a:r>
            <a:r>
              <a:rPr lang="en-ID" dirty="0"/>
              <a:t> </a:t>
            </a:r>
            <a:r>
              <a:rPr lang="en-ID" dirty="0" err="1"/>
              <a:t>independensi</a:t>
            </a:r>
            <a:r>
              <a:rPr lang="en-ID" dirty="0"/>
              <a:t> program-data.</a:t>
            </a:r>
          </a:p>
          <a:p>
            <a:pPr marL="457200" indent="-457200">
              <a:buFont typeface="Arial" panose="020B0604020202020204" pitchFamily="34" charset="0"/>
              <a:buChar char="•"/>
            </a:pPr>
            <a:r>
              <a:rPr lang="en-ID" dirty="0" err="1"/>
              <a:t>Mengurangi</a:t>
            </a:r>
            <a:r>
              <a:rPr lang="en-ID" dirty="0"/>
              <a:t> </a:t>
            </a:r>
            <a:r>
              <a:rPr lang="en-ID" dirty="0" err="1"/>
              <a:t>redundansi</a:t>
            </a:r>
            <a:r>
              <a:rPr lang="en-ID" dirty="0"/>
              <a:t> </a:t>
            </a:r>
            <a:r>
              <a:rPr lang="en-ID" dirty="0" err="1"/>
              <a:t>data.Meningkatkan</a:t>
            </a:r>
            <a:r>
              <a:rPr lang="en-ID" dirty="0"/>
              <a:t> </a:t>
            </a:r>
            <a:r>
              <a:rPr lang="en-ID" dirty="0" err="1"/>
              <a:t>konsistensi</a:t>
            </a:r>
            <a:r>
              <a:rPr lang="en-ID" dirty="0"/>
              <a:t> dan </a:t>
            </a:r>
            <a:r>
              <a:rPr lang="en-ID" dirty="0" err="1"/>
              <a:t>kualitas</a:t>
            </a:r>
            <a:r>
              <a:rPr lang="en-ID" dirty="0"/>
              <a:t> data.</a:t>
            </a:r>
          </a:p>
          <a:p>
            <a:pPr marL="457200" indent="-457200">
              <a:buFont typeface="Arial" panose="020B0604020202020204" pitchFamily="34" charset="0"/>
              <a:buChar char="•"/>
            </a:pPr>
            <a:r>
              <a:rPr lang="en-ID" dirty="0" err="1"/>
              <a:t>Meningkatkan</a:t>
            </a:r>
            <a:r>
              <a:rPr lang="en-ID" dirty="0"/>
              <a:t> </a:t>
            </a:r>
            <a:r>
              <a:rPr lang="en-ID" dirty="0" err="1"/>
              <a:t>kemampuan</a:t>
            </a:r>
            <a:r>
              <a:rPr lang="en-ID" dirty="0"/>
              <a:t> </a:t>
            </a:r>
            <a:r>
              <a:rPr lang="en-ID" dirty="0" err="1"/>
              <a:t>berbagi</a:t>
            </a:r>
            <a:r>
              <a:rPr lang="en-ID" dirty="0"/>
              <a:t> data.</a:t>
            </a:r>
          </a:p>
          <a:p>
            <a:pPr marL="457200" indent="-457200">
              <a:buFont typeface="Arial" panose="020B0604020202020204" pitchFamily="34" charset="0"/>
              <a:buChar char="•"/>
            </a:pPr>
            <a:r>
              <a:rPr lang="en-ID" dirty="0" err="1"/>
              <a:t>Memastikan</a:t>
            </a:r>
            <a:r>
              <a:rPr lang="en-ID" dirty="0"/>
              <a:t> </a:t>
            </a:r>
            <a:r>
              <a:rPr lang="en-ID" dirty="0" err="1"/>
              <a:t>kepatuhan</a:t>
            </a:r>
            <a:r>
              <a:rPr lang="en-ID" dirty="0"/>
              <a:t> </a:t>
            </a:r>
            <a:r>
              <a:rPr lang="en-ID" dirty="0" err="1"/>
              <a:t>terhadap</a:t>
            </a:r>
            <a:r>
              <a:rPr lang="en-ID" dirty="0"/>
              <a:t> </a:t>
            </a:r>
            <a:r>
              <a:rPr lang="en-ID" dirty="0" err="1"/>
              <a:t>standar</a:t>
            </a:r>
            <a:r>
              <a:rPr lang="en-ID" dirty="0"/>
              <a:t>.</a:t>
            </a:r>
          </a:p>
          <a:p>
            <a:pPr marL="457200" indent="-457200">
              <a:buFont typeface="Arial" panose="020B0604020202020204" pitchFamily="34" charset="0"/>
              <a:buChar char="•"/>
            </a:pPr>
            <a:r>
              <a:rPr lang="en-ID" dirty="0" err="1"/>
              <a:t>Meningkatkan</a:t>
            </a:r>
            <a:r>
              <a:rPr lang="en-ID" dirty="0"/>
              <a:t> </a:t>
            </a:r>
            <a:r>
              <a:rPr lang="en-ID" dirty="0" err="1"/>
              <a:t>aksesibilitas</a:t>
            </a:r>
            <a:r>
              <a:rPr lang="en-ID" dirty="0"/>
              <a:t> dan </a:t>
            </a:r>
            <a:r>
              <a:rPr lang="en-ID" dirty="0" err="1"/>
              <a:t>responsivitas</a:t>
            </a:r>
            <a:r>
              <a:rPr lang="en-ID" dirty="0"/>
              <a:t> data.</a:t>
            </a:r>
          </a:p>
        </p:txBody>
      </p:sp>
    </p:spTree>
    <p:extLst>
      <p:ext uri="{BB962C8B-B14F-4D97-AF65-F5344CB8AC3E}">
        <p14:creationId xmlns:p14="http://schemas.microsoft.com/office/powerpoint/2010/main" val="19546514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1554" name="Rectangle 2">
            <a:extLst>
              <a:ext uri="{FF2B5EF4-FFF2-40B4-BE49-F238E27FC236}">
                <a16:creationId xmlns:a16="http://schemas.microsoft.com/office/drawing/2014/main" id="{FC210DF8-816F-C511-5C7E-91B0AE1A9435}"/>
              </a:ext>
            </a:extLst>
          </p:cNvPr>
          <p:cNvSpPr>
            <a:spLocks noGrp="1" noChangeArrowheads="1"/>
          </p:cNvSpPr>
          <p:nvPr>
            <p:ph type="title"/>
          </p:nvPr>
        </p:nvSpPr>
        <p:spPr>
          <a:xfrm>
            <a:off x="1981200" y="0"/>
            <a:ext cx="8229600" cy="1066800"/>
          </a:xfrm>
        </p:spPr>
        <p:txBody>
          <a:bodyPr>
            <a:normAutofit/>
          </a:bodyPr>
          <a:lstStyle/>
          <a:p>
            <a:pPr>
              <a:defRPr/>
            </a:pPr>
            <a:r>
              <a:rPr lang="en-US" sz="4000" dirty="0">
                <a:solidFill>
                  <a:srgbClr val="000000"/>
                </a:solidFill>
                <a:effectLst>
                  <a:outerShdw blurRad="38100" dist="38100" dir="2700000" algn="tl">
                    <a:srgbClr val="FFFFFF"/>
                  </a:outerShdw>
                </a:effectLst>
              </a:rPr>
              <a:t>Elements of the Database Approach</a:t>
            </a:r>
          </a:p>
        </p:txBody>
      </p:sp>
      <p:sp>
        <p:nvSpPr>
          <p:cNvPr id="151555" name="Rectangle 3">
            <a:extLst>
              <a:ext uri="{FF2B5EF4-FFF2-40B4-BE49-F238E27FC236}">
                <a16:creationId xmlns:a16="http://schemas.microsoft.com/office/drawing/2014/main" id="{BD14128D-A2DC-A28A-D0FB-3CEE32EE35D7}"/>
              </a:ext>
            </a:extLst>
          </p:cNvPr>
          <p:cNvSpPr>
            <a:spLocks noGrp="1" noChangeArrowheads="1"/>
          </p:cNvSpPr>
          <p:nvPr>
            <p:ph idx="1"/>
          </p:nvPr>
        </p:nvSpPr>
        <p:spPr>
          <a:xfrm>
            <a:off x="1927225" y="1431925"/>
            <a:ext cx="8229600" cy="4572000"/>
          </a:xfrm>
        </p:spPr>
        <p:txBody>
          <a:bodyPr>
            <a:normAutofit/>
          </a:bodyPr>
          <a:lstStyle/>
          <a:p>
            <a:pPr eaLnBrk="1" hangingPunct="1">
              <a:lnSpc>
                <a:spcPct val="70000"/>
              </a:lnSpc>
              <a:defRPr/>
            </a:pPr>
            <a:r>
              <a:rPr lang="en-US" altLang="en-US" sz="2400" dirty="0">
                <a:solidFill>
                  <a:srgbClr val="000000"/>
                </a:solidFill>
                <a:effectLst>
                  <a:outerShdw blurRad="38100" dist="38100" dir="2700000" algn="tl">
                    <a:srgbClr val="C0C0C0"/>
                  </a:outerShdw>
                </a:effectLst>
              </a:rPr>
              <a:t>Data models </a:t>
            </a:r>
          </a:p>
          <a:p>
            <a:pPr lvl="1" eaLnBrk="1" hangingPunct="1">
              <a:lnSpc>
                <a:spcPct val="70000"/>
              </a:lnSpc>
              <a:defRPr/>
            </a:pPr>
            <a:r>
              <a:rPr lang="en-US" altLang="en-US" sz="2000" dirty="0">
                <a:solidFill>
                  <a:srgbClr val="000000"/>
                </a:solidFill>
                <a:effectLst>
                  <a:outerShdw blurRad="38100" dist="38100" dir="2700000" algn="tl">
                    <a:srgbClr val="C0C0C0"/>
                  </a:outerShdw>
                </a:effectLst>
              </a:rPr>
              <a:t>Graphical system capturing nature and relationship of data</a:t>
            </a:r>
          </a:p>
          <a:p>
            <a:pPr lvl="1" eaLnBrk="1" hangingPunct="1">
              <a:lnSpc>
                <a:spcPct val="70000"/>
              </a:lnSpc>
              <a:defRPr/>
            </a:pPr>
            <a:r>
              <a:rPr lang="en-US" altLang="en-US" sz="2000" dirty="0">
                <a:solidFill>
                  <a:srgbClr val="000000"/>
                </a:solidFill>
                <a:effectLst>
                  <a:outerShdw blurRad="38100" dist="38100" dir="2700000" algn="tl">
                    <a:srgbClr val="C0C0C0"/>
                  </a:outerShdw>
                </a:effectLst>
              </a:rPr>
              <a:t>Enterprise Data Model–high-level entities and relationships for the organization</a:t>
            </a:r>
          </a:p>
          <a:p>
            <a:pPr lvl="1" eaLnBrk="1" hangingPunct="1">
              <a:lnSpc>
                <a:spcPct val="70000"/>
              </a:lnSpc>
              <a:defRPr/>
            </a:pPr>
            <a:r>
              <a:rPr lang="en-US" altLang="en-US" sz="2000" dirty="0">
                <a:solidFill>
                  <a:srgbClr val="000000"/>
                </a:solidFill>
                <a:effectLst>
                  <a:outerShdw blurRad="38100" dist="38100" dir="2700000" algn="tl">
                    <a:srgbClr val="C0C0C0"/>
                  </a:outerShdw>
                </a:effectLst>
              </a:rPr>
              <a:t>Project Data Model–more detailed view, matching data structure in database or data warehouse </a:t>
            </a:r>
          </a:p>
          <a:p>
            <a:pPr eaLnBrk="1" hangingPunct="1">
              <a:lnSpc>
                <a:spcPct val="70000"/>
              </a:lnSpc>
              <a:defRPr/>
            </a:pPr>
            <a:r>
              <a:rPr lang="en-US" altLang="en-US" sz="2400" dirty="0">
                <a:solidFill>
                  <a:srgbClr val="000000"/>
                </a:solidFill>
                <a:effectLst>
                  <a:outerShdw blurRad="38100" dist="38100" dir="2700000" algn="tl">
                    <a:srgbClr val="C0C0C0"/>
                  </a:outerShdw>
                </a:effectLst>
              </a:rPr>
              <a:t>Entities</a:t>
            </a:r>
          </a:p>
          <a:p>
            <a:pPr lvl="1" eaLnBrk="1" hangingPunct="1">
              <a:lnSpc>
                <a:spcPct val="70000"/>
              </a:lnSpc>
              <a:defRPr/>
            </a:pPr>
            <a:r>
              <a:rPr lang="en-US" altLang="en-US" sz="2000" dirty="0">
                <a:solidFill>
                  <a:srgbClr val="000000"/>
                </a:solidFill>
                <a:effectLst>
                  <a:outerShdw blurRad="38100" dist="38100" dir="2700000" algn="tl">
                    <a:srgbClr val="C0C0C0"/>
                  </a:outerShdw>
                </a:effectLst>
              </a:rPr>
              <a:t>Noun form describing a person, place, object, event, or concept</a:t>
            </a:r>
          </a:p>
          <a:p>
            <a:pPr lvl="1" eaLnBrk="1" hangingPunct="1">
              <a:lnSpc>
                <a:spcPct val="70000"/>
              </a:lnSpc>
              <a:defRPr/>
            </a:pPr>
            <a:r>
              <a:rPr lang="en-US" altLang="en-US" sz="2000" dirty="0">
                <a:solidFill>
                  <a:srgbClr val="000000"/>
                </a:solidFill>
                <a:effectLst>
                  <a:outerShdw blurRad="38100" dist="38100" dir="2700000" algn="tl">
                    <a:srgbClr val="C0C0C0"/>
                  </a:outerShdw>
                </a:effectLst>
              </a:rPr>
              <a:t>Composed of attributes</a:t>
            </a:r>
          </a:p>
          <a:p>
            <a:pPr eaLnBrk="1" hangingPunct="1">
              <a:lnSpc>
                <a:spcPct val="70000"/>
              </a:lnSpc>
              <a:defRPr/>
            </a:pPr>
            <a:r>
              <a:rPr lang="en-US" altLang="en-US" sz="2400" dirty="0">
                <a:solidFill>
                  <a:srgbClr val="000000"/>
                </a:solidFill>
                <a:effectLst>
                  <a:outerShdw blurRad="38100" dist="38100" dir="2700000" algn="tl">
                    <a:srgbClr val="C0C0C0"/>
                  </a:outerShdw>
                </a:effectLst>
              </a:rPr>
              <a:t>Relationships</a:t>
            </a:r>
          </a:p>
          <a:p>
            <a:pPr lvl="1" eaLnBrk="1" hangingPunct="1">
              <a:lnSpc>
                <a:spcPct val="70000"/>
              </a:lnSpc>
              <a:defRPr/>
            </a:pPr>
            <a:r>
              <a:rPr lang="en-US" altLang="en-US" sz="2000" dirty="0">
                <a:solidFill>
                  <a:srgbClr val="000000"/>
                </a:solidFill>
                <a:effectLst>
                  <a:outerShdw blurRad="38100" dist="38100" dir="2700000" algn="tl">
                    <a:srgbClr val="C0C0C0"/>
                  </a:outerShdw>
                </a:effectLst>
              </a:rPr>
              <a:t>Between entities</a:t>
            </a:r>
          </a:p>
          <a:p>
            <a:pPr lvl="1" eaLnBrk="1" hangingPunct="1">
              <a:lnSpc>
                <a:spcPct val="70000"/>
              </a:lnSpc>
              <a:defRPr/>
            </a:pPr>
            <a:r>
              <a:rPr lang="en-US" altLang="en-US" sz="2000" dirty="0">
                <a:solidFill>
                  <a:srgbClr val="000000"/>
                </a:solidFill>
                <a:effectLst>
                  <a:outerShdw blurRad="38100" dist="38100" dir="2700000" algn="tl">
                    <a:srgbClr val="C0C0C0"/>
                  </a:outerShdw>
                </a:effectLst>
              </a:rPr>
              <a:t>Usually one-to-many (1:M) or many-to-many (M:N)</a:t>
            </a:r>
          </a:p>
          <a:p>
            <a:pPr eaLnBrk="1" hangingPunct="1">
              <a:lnSpc>
                <a:spcPct val="70000"/>
              </a:lnSpc>
              <a:defRPr/>
            </a:pPr>
            <a:r>
              <a:rPr lang="en-US" altLang="en-US" sz="2400" dirty="0">
                <a:solidFill>
                  <a:srgbClr val="000000"/>
                </a:solidFill>
                <a:effectLst>
                  <a:outerShdw blurRad="38100" dist="38100" dir="2700000" algn="tl">
                    <a:srgbClr val="C0C0C0"/>
                  </a:outerShdw>
                </a:effectLst>
              </a:rPr>
              <a:t>Relational Databases</a:t>
            </a:r>
          </a:p>
          <a:p>
            <a:pPr lvl="1" eaLnBrk="1" hangingPunct="1">
              <a:lnSpc>
                <a:spcPct val="70000"/>
              </a:lnSpc>
              <a:defRPr/>
            </a:pPr>
            <a:r>
              <a:rPr lang="en-US" altLang="en-US" sz="2000" dirty="0">
                <a:solidFill>
                  <a:srgbClr val="000000"/>
                </a:solidFill>
                <a:effectLst>
                  <a:outerShdw blurRad="38100" dist="38100" dir="2700000" algn="tl">
                    <a:srgbClr val="C0C0C0"/>
                  </a:outerShdw>
                </a:effectLst>
              </a:rPr>
              <a:t>Database technology involving tables (relations) representing entities and primary/foreign keys representing relationships</a:t>
            </a:r>
          </a:p>
          <a:p>
            <a:pPr lvl="1" eaLnBrk="1" hangingPunct="1">
              <a:lnSpc>
                <a:spcPct val="70000"/>
              </a:lnSpc>
              <a:defRPr/>
            </a:pPr>
            <a:endParaRPr lang="en-US" altLang="en-US" sz="2000" dirty="0">
              <a:solidFill>
                <a:srgbClr val="000000"/>
              </a:solidFill>
              <a:effectLst>
                <a:outerShdw blurRad="38100" dist="38100" dir="2700000" algn="tl">
                  <a:srgbClr val="C0C0C0"/>
                </a:outerShdw>
              </a:effectL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4" descr="Noname.jpg">
            <a:extLst>
              <a:ext uri="{FF2B5EF4-FFF2-40B4-BE49-F238E27FC236}">
                <a16:creationId xmlns:a16="http://schemas.microsoft.com/office/drawing/2014/main" id="{7D6F9D28-19AA-91EE-4A3D-C5C23D1D0A6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90739" y="671514"/>
            <a:ext cx="8010525" cy="551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4" name="Picture 5" descr="Noname.gif">
            <a:extLst>
              <a:ext uri="{FF2B5EF4-FFF2-40B4-BE49-F238E27FC236}">
                <a16:creationId xmlns:a16="http://schemas.microsoft.com/office/drawing/2014/main" id="{1D2E55F7-3682-DFEC-A59B-319EA528978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940550" y="5289551"/>
            <a:ext cx="3094038"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6" name="Text Box 7">
            <a:extLst>
              <a:ext uri="{FF2B5EF4-FFF2-40B4-BE49-F238E27FC236}">
                <a16:creationId xmlns:a16="http://schemas.microsoft.com/office/drawing/2014/main" id="{1319F90E-C76F-C30D-4631-32B09E9E15FD}"/>
              </a:ext>
            </a:extLst>
          </p:cNvPr>
          <p:cNvSpPr txBox="1">
            <a:spLocks noChangeArrowheads="1"/>
          </p:cNvSpPr>
          <p:nvPr/>
        </p:nvSpPr>
        <p:spPr bwMode="auto">
          <a:xfrm>
            <a:off x="1965326" y="6262689"/>
            <a:ext cx="1177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9pPr>
          </a:lstStyle>
          <a:p>
            <a:pPr eaLnBrk="1" hangingPunct="1">
              <a:spcBef>
                <a:spcPct val="0"/>
              </a:spcBef>
              <a:buClrTx/>
              <a:buSzTx/>
              <a:buFontTx/>
              <a:buNone/>
            </a:pPr>
            <a:r>
              <a:rPr lang="en-US" altLang="en-US" sz="2000">
                <a:solidFill>
                  <a:srgbClr val="000000"/>
                </a:solidFill>
                <a:latin typeface="Times New Roman" panose="02020603050405020304" pitchFamily="18" charset="0"/>
              </a:rPr>
              <a:t>Chapter 1</a:t>
            </a:r>
          </a:p>
        </p:txBody>
      </p:sp>
      <p:sp>
        <p:nvSpPr>
          <p:cNvPr id="7" name="Rectangle 5">
            <a:extLst>
              <a:ext uri="{FF2B5EF4-FFF2-40B4-BE49-F238E27FC236}">
                <a16:creationId xmlns:a16="http://schemas.microsoft.com/office/drawing/2014/main" id="{3B1A9735-C54D-7228-C1E0-2DCA61B9A318}"/>
              </a:ext>
            </a:extLst>
          </p:cNvPr>
          <p:cNvSpPr txBox="1">
            <a:spLocks noGrp="1" noChangeArrowheads="1"/>
          </p:cNvSpPr>
          <p:nvPr/>
        </p:nvSpPr>
        <p:spPr bwMode="auto">
          <a:xfrm>
            <a:off x="2852738" y="6191250"/>
            <a:ext cx="6386512" cy="476250"/>
          </a:xfrm>
          <a:prstGeom prst="rect">
            <a:avLst/>
          </a:prstGeom>
          <a:noFill/>
          <a:ln>
            <a:miter lim="800000"/>
            <a:headEnd/>
            <a:tailEnd/>
          </a:ln>
        </p:spPr>
        <p:txBody>
          <a:bodyPr anchor="b"/>
          <a:lstStyle/>
          <a:p>
            <a:pPr algn="ctr" eaLnBrk="1" hangingPunct="1">
              <a:defRPr/>
            </a:pPr>
            <a:r>
              <a:rPr lang="en-US" dirty="0">
                <a:solidFill>
                  <a:srgbClr val="000000"/>
                </a:solidFill>
                <a:effectLst>
                  <a:outerShdw blurRad="38100" dist="38100" dir="2700000" algn="tl">
                    <a:srgbClr val="FFFFFF"/>
                  </a:outerShdw>
                </a:effectLst>
                <a:latin typeface="Times New Roman" pitchFamily="18" charset="0"/>
                <a:cs typeface="Arial" charset="0"/>
              </a:rPr>
              <a:t>Copyright © 2014 Pearson Education, Inc.</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35B17-4894-6E98-F445-ADF7207FCFC3}"/>
              </a:ext>
            </a:extLst>
          </p:cNvPr>
          <p:cNvSpPr>
            <a:spLocks noGrp="1"/>
          </p:cNvSpPr>
          <p:nvPr>
            <p:ph type="title"/>
          </p:nvPr>
        </p:nvSpPr>
        <p:spPr/>
        <p:txBody>
          <a:bodyPr/>
          <a:lstStyle/>
          <a:p>
            <a:r>
              <a:rPr lang="en-ID" dirty="0"/>
              <a:t>KOMPONEN PENDUKUNG BASIS DATA</a:t>
            </a:r>
          </a:p>
        </p:txBody>
      </p:sp>
      <p:sp>
        <p:nvSpPr>
          <p:cNvPr id="3" name="Content Placeholder 2">
            <a:extLst>
              <a:ext uri="{FF2B5EF4-FFF2-40B4-BE49-F238E27FC236}">
                <a16:creationId xmlns:a16="http://schemas.microsoft.com/office/drawing/2014/main" id="{DA4C7ED0-97B4-395A-61C2-7B58C73AFE0D}"/>
              </a:ext>
            </a:extLst>
          </p:cNvPr>
          <p:cNvSpPr>
            <a:spLocks noGrp="1"/>
          </p:cNvSpPr>
          <p:nvPr>
            <p:ph idx="1"/>
          </p:nvPr>
        </p:nvSpPr>
        <p:spPr>
          <a:xfrm>
            <a:off x="288758" y="2017467"/>
            <a:ext cx="11582400" cy="4607922"/>
          </a:xfrm>
        </p:spPr>
        <p:txBody>
          <a:bodyPr>
            <a:noAutofit/>
          </a:bodyPr>
          <a:lstStyle/>
          <a:p>
            <a:r>
              <a:rPr lang="en-ID" sz="2400" dirty="0"/>
              <a:t>CASE Tools–</a:t>
            </a:r>
            <a:r>
              <a:rPr lang="en-ID" sz="2400" dirty="0" err="1"/>
              <a:t>Perangkat</a:t>
            </a:r>
            <a:r>
              <a:rPr lang="en-ID" sz="2400" dirty="0"/>
              <a:t> </a:t>
            </a:r>
            <a:r>
              <a:rPr lang="en-ID" sz="2400" dirty="0" err="1"/>
              <a:t>lunak</a:t>
            </a:r>
            <a:r>
              <a:rPr lang="en-ID" sz="2400" dirty="0"/>
              <a:t> </a:t>
            </a:r>
            <a:r>
              <a:rPr lang="en-ID" sz="2400" dirty="0" err="1"/>
              <a:t>rekayasa</a:t>
            </a:r>
            <a:r>
              <a:rPr lang="en-ID" sz="2400" dirty="0"/>
              <a:t> </a:t>
            </a:r>
            <a:r>
              <a:rPr lang="en-ID" sz="2400" dirty="0" err="1"/>
              <a:t>berbantuan</a:t>
            </a:r>
            <a:r>
              <a:rPr lang="en-ID" sz="2400" dirty="0"/>
              <a:t> </a:t>
            </a:r>
            <a:r>
              <a:rPr lang="en-ID" sz="2400" dirty="0" err="1"/>
              <a:t>komputer</a:t>
            </a:r>
            <a:r>
              <a:rPr lang="en-ID" sz="2400" dirty="0"/>
              <a:t> </a:t>
            </a:r>
            <a:r>
              <a:rPr lang="en-ID" sz="2400" dirty="0" err="1"/>
              <a:t>untuk</a:t>
            </a:r>
            <a:r>
              <a:rPr lang="en-ID" sz="2400" dirty="0"/>
              <a:t> </a:t>
            </a:r>
            <a:r>
              <a:rPr lang="en-ID" sz="2400" dirty="0" err="1"/>
              <a:t>pengembangan</a:t>
            </a:r>
            <a:r>
              <a:rPr lang="en-ID" sz="2400" dirty="0"/>
              <a:t> basis data.</a:t>
            </a:r>
          </a:p>
          <a:p>
            <a:r>
              <a:rPr lang="en-ID" sz="2400" dirty="0"/>
              <a:t>Repository–</a:t>
            </a:r>
            <a:r>
              <a:rPr lang="en-ID" sz="2400" dirty="0" err="1"/>
              <a:t>Penyimpanan</a:t>
            </a:r>
            <a:r>
              <a:rPr lang="en-ID" sz="2400" dirty="0"/>
              <a:t> </a:t>
            </a:r>
            <a:r>
              <a:rPr lang="en-ID" sz="2400" dirty="0" err="1"/>
              <a:t>terpusat</a:t>
            </a:r>
            <a:r>
              <a:rPr lang="en-ID" sz="2400" dirty="0"/>
              <a:t> </a:t>
            </a:r>
            <a:r>
              <a:rPr lang="en-ID" sz="2400" dirty="0" err="1"/>
              <a:t>untuk</a:t>
            </a:r>
            <a:r>
              <a:rPr lang="en-ID" sz="2400" dirty="0"/>
              <a:t> metadata.</a:t>
            </a:r>
          </a:p>
          <a:p>
            <a:r>
              <a:rPr lang="en-ID" sz="2400" dirty="0"/>
              <a:t>Database Management System (DBMS) –</a:t>
            </a:r>
            <a:r>
              <a:rPr lang="en-ID" sz="2400" dirty="0" err="1"/>
              <a:t>Perangkat</a:t>
            </a:r>
            <a:r>
              <a:rPr lang="en-ID" sz="2400" dirty="0"/>
              <a:t> </a:t>
            </a:r>
            <a:r>
              <a:rPr lang="en-ID" sz="2400" dirty="0" err="1"/>
              <a:t>lunak</a:t>
            </a:r>
            <a:r>
              <a:rPr lang="en-ID" sz="2400" dirty="0"/>
              <a:t> yang </a:t>
            </a:r>
            <a:r>
              <a:rPr lang="en-ID" sz="2400" dirty="0" err="1"/>
              <a:t>mengelola</a:t>
            </a:r>
            <a:r>
              <a:rPr lang="en-ID" sz="2400" dirty="0"/>
              <a:t> basis data.</a:t>
            </a:r>
          </a:p>
          <a:p>
            <a:r>
              <a:rPr lang="en-ID" sz="2400" dirty="0"/>
              <a:t>Database–</a:t>
            </a:r>
            <a:r>
              <a:rPr lang="en-ID" sz="2400" dirty="0" err="1"/>
              <a:t>Tempat</a:t>
            </a:r>
            <a:r>
              <a:rPr lang="en-ID" sz="2400" dirty="0"/>
              <a:t> </a:t>
            </a:r>
            <a:r>
              <a:rPr lang="en-ID" sz="2400" dirty="0" err="1"/>
              <a:t>penyimpanan</a:t>
            </a:r>
            <a:r>
              <a:rPr lang="en-ID" sz="2400" dirty="0"/>
              <a:t> data.</a:t>
            </a:r>
          </a:p>
          <a:p>
            <a:r>
              <a:rPr lang="en-ID" sz="2400" dirty="0"/>
              <a:t>Application Programs–software using the data</a:t>
            </a:r>
          </a:p>
          <a:p>
            <a:r>
              <a:rPr lang="en-ID" sz="2400" dirty="0"/>
              <a:t>User Interface–text and graphical displays to users</a:t>
            </a:r>
          </a:p>
          <a:p>
            <a:r>
              <a:rPr lang="en-ID" sz="2400" dirty="0"/>
              <a:t>Data/Database Administrators–personnel responsible for maintaining the database</a:t>
            </a:r>
          </a:p>
          <a:p>
            <a:r>
              <a:rPr lang="en-ID" sz="2400" dirty="0"/>
              <a:t>System Developers–personnel responsible for designing databases and software</a:t>
            </a:r>
          </a:p>
          <a:p>
            <a:r>
              <a:rPr lang="en-ID" sz="2400" dirty="0"/>
              <a:t>End Users–people who use the applications and databases</a:t>
            </a:r>
          </a:p>
        </p:txBody>
      </p:sp>
    </p:spTree>
    <p:extLst>
      <p:ext uri="{BB962C8B-B14F-4D97-AF65-F5344CB8AC3E}">
        <p14:creationId xmlns:p14="http://schemas.microsoft.com/office/powerpoint/2010/main" val="11840642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Siklus Hidup Pengembangan Sistem Basis Data (SDLC)</a:t>
            </a:r>
          </a:p>
        </p:txBody>
      </p:sp>
      <p:sp>
        <p:nvSpPr>
          <p:cNvPr id="3" name="Content Placeholder 2"/>
          <p:cNvSpPr>
            <a:spLocks noGrp="1"/>
          </p:cNvSpPr>
          <p:nvPr>
            <p:ph idx="1"/>
          </p:nvPr>
        </p:nvSpPr>
        <p:spPr>
          <a:xfrm>
            <a:off x="1158865" y="2017467"/>
            <a:ext cx="9779182" cy="4014365"/>
          </a:xfrm>
        </p:spPr>
        <p:txBody>
          <a:bodyPr>
            <a:normAutofit lnSpcReduction="10000"/>
          </a:bodyPr>
          <a:lstStyle/>
          <a:p>
            <a:r>
              <a:rPr lang="en-ID" dirty="0"/>
              <a:t> </a:t>
            </a:r>
            <a:r>
              <a:rPr dirty="0" err="1"/>
              <a:t>Perencanaan</a:t>
            </a:r>
            <a:r>
              <a:rPr dirty="0"/>
              <a:t>: </a:t>
            </a:r>
            <a:r>
              <a:rPr dirty="0" err="1"/>
              <a:t>Menentukan</a:t>
            </a:r>
            <a:r>
              <a:rPr dirty="0"/>
              <a:t> </a:t>
            </a:r>
            <a:r>
              <a:rPr dirty="0" err="1"/>
              <a:t>kebutuhan</a:t>
            </a:r>
            <a:r>
              <a:rPr dirty="0"/>
              <a:t> </a:t>
            </a:r>
            <a:r>
              <a:rPr dirty="0" err="1"/>
              <a:t>awal</a:t>
            </a:r>
            <a:r>
              <a:rPr dirty="0"/>
              <a:t> basis data.</a:t>
            </a:r>
          </a:p>
          <a:p>
            <a:r>
              <a:rPr lang="en-ID" dirty="0"/>
              <a:t> </a:t>
            </a:r>
            <a:r>
              <a:rPr dirty="0" err="1"/>
              <a:t>Analisis</a:t>
            </a:r>
            <a:r>
              <a:rPr dirty="0"/>
              <a:t>: </a:t>
            </a:r>
            <a:r>
              <a:rPr dirty="0" err="1"/>
              <a:t>Mengidentifikasi</a:t>
            </a:r>
            <a:r>
              <a:rPr dirty="0"/>
              <a:t> </a:t>
            </a:r>
            <a:r>
              <a:rPr dirty="0" err="1"/>
              <a:t>kebutuhan</a:t>
            </a:r>
            <a:r>
              <a:rPr dirty="0"/>
              <a:t> </a:t>
            </a:r>
            <a:r>
              <a:rPr dirty="0" err="1"/>
              <a:t>spesifik</a:t>
            </a:r>
            <a:r>
              <a:rPr dirty="0"/>
              <a:t> </a:t>
            </a:r>
            <a:r>
              <a:rPr dirty="0" err="1"/>
              <a:t>pengguna</a:t>
            </a:r>
            <a:r>
              <a:rPr dirty="0"/>
              <a:t>.</a:t>
            </a:r>
          </a:p>
          <a:p>
            <a:r>
              <a:rPr lang="en-ID" dirty="0"/>
              <a:t> </a:t>
            </a:r>
            <a:r>
              <a:rPr dirty="0"/>
              <a:t>Desain </a:t>
            </a:r>
            <a:r>
              <a:rPr dirty="0" err="1"/>
              <a:t>Logis</a:t>
            </a:r>
            <a:r>
              <a:rPr dirty="0"/>
              <a:t>: </a:t>
            </a:r>
            <a:r>
              <a:rPr dirty="0" err="1"/>
              <a:t>Merancang</a:t>
            </a:r>
            <a:r>
              <a:rPr dirty="0"/>
              <a:t> model </a:t>
            </a:r>
            <a:r>
              <a:rPr dirty="0" err="1"/>
              <a:t>konseptual</a:t>
            </a:r>
            <a:r>
              <a:rPr dirty="0"/>
              <a:t> basis data.</a:t>
            </a:r>
          </a:p>
          <a:p>
            <a:r>
              <a:rPr lang="en-ID" dirty="0"/>
              <a:t> </a:t>
            </a:r>
            <a:r>
              <a:rPr dirty="0"/>
              <a:t>Desain </a:t>
            </a:r>
            <a:r>
              <a:rPr dirty="0" err="1"/>
              <a:t>Fisik</a:t>
            </a:r>
            <a:r>
              <a:rPr dirty="0"/>
              <a:t>: </a:t>
            </a:r>
            <a:r>
              <a:rPr dirty="0" err="1"/>
              <a:t>Menerapkan</a:t>
            </a:r>
            <a:r>
              <a:rPr dirty="0"/>
              <a:t> </a:t>
            </a:r>
            <a:r>
              <a:rPr dirty="0" err="1"/>
              <a:t>desain</a:t>
            </a:r>
            <a:r>
              <a:rPr dirty="0"/>
              <a:t> </a:t>
            </a:r>
            <a:r>
              <a:rPr dirty="0" err="1"/>
              <a:t>logis</a:t>
            </a:r>
            <a:r>
              <a:rPr dirty="0"/>
              <a:t> </a:t>
            </a:r>
            <a:r>
              <a:rPr dirty="0" err="1"/>
              <a:t>ke</a:t>
            </a:r>
            <a:r>
              <a:rPr dirty="0"/>
              <a:t> </a:t>
            </a:r>
            <a:r>
              <a:rPr dirty="0" err="1"/>
              <a:t>dalam</a:t>
            </a:r>
            <a:r>
              <a:rPr dirty="0"/>
              <a:t> </a:t>
            </a:r>
            <a:r>
              <a:rPr dirty="0" err="1"/>
              <a:t>sistem</a:t>
            </a:r>
            <a:r>
              <a:rPr dirty="0"/>
              <a:t> basis data.</a:t>
            </a:r>
          </a:p>
          <a:p>
            <a:r>
              <a:rPr lang="en-ID" dirty="0"/>
              <a:t> </a:t>
            </a:r>
            <a:r>
              <a:rPr dirty="0" err="1"/>
              <a:t>Implementasi</a:t>
            </a:r>
            <a:r>
              <a:rPr dirty="0"/>
              <a:t>: </a:t>
            </a:r>
            <a:r>
              <a:rPr dirty="0" err="1"/>
              <a:t>Pengkodean</a:t>
            </a:r>
            <a:r>
              <a:rPr dirty="0"/>
              <a:t>, </a:t>
            </a:r>
            <a:r>
              <a:rPr dirty="0" err="1"/>
              <a:t>pengujian</a:t>
            </a:r>
            <a:r>
              <a:rPr dirty="0"/>
              <a:t>, dan </a:t>
            </a:r>
            <a:r>
              <a:rPr dirty="0" err="1"/>
              <a:t>pemasangan</a:t>
            </a:r>
            <a:r>
              <a:rPr dirty="0"/>
              <a:t> basis data.</a:t>
            </a:r>
          </a:p>
          <a:p>
            <a:r>
              <a:rPr lang="en-ID" dirty="0"/>
              <a:t> </a:t>
            </a:r>
            <a:r>
              <a:rPr dirty="0" err="1"/>
              <a:t>Pemeliharaan</a:t>
            </a:r>
            <a:r>
              <a:rPr dirty="0"/>
              <a:t>: </a:t>
            </a:r>
            <a:r>
              <a:rPr dirty="0" err="1"/>
              <a:t>Mengoptimalkan</a:t>
            </a:r>
            <a:r>
              <a:rPr dirty="0"/>
              <a:t> dan </a:t>
            </a:r>
            <a:r>
              <a:rPr dirty="0" err="1"/>
              <a:t>memperbarui</a:t>
            </a:r>
            <a:r>
              <a:rPr dirty="0"/>
              <a:t> basis data </a:t>
            </a:r>
            <a:r>
              <a:rPr dirty="0" err="1"/>
              <a:t>sesuai</a:t>
            </a:r>
            <a:r>
              <a:rPr dirty="0"/>
              <a:t> </a:t>
            </a:r>
            <a:r>
              <a:rPr dirty="0" err="1"/>
              <a:t>kebutuhan</a:t>
            </a:r>
            <a:r>
              <a:rPr dirty="0"/>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CAF83B41-BB70-F5D4-D896-E9E4A3C6068F}"/>
              </a:ext>
            </a:extLst>
          </p:cNvPr>
          <p:cNvSpPr>
            <a:spLocks noGrp="1" noChangeArrowheads="1"/>
          </p:cNvSpPr>
          <p:nvPr>
            <p:ph type="title"/>
          </p:nvPr>
        </p:nvSpPr>
        <p:spPr>
          <a:xfrm>
            <a:off x="2133600" y="431800"/>
            <a:ext cx="8001000" cy="1143000"/>
          </a:xfrm>
        </p:spPr>
        <p:txBody>
          <a:bodyPr>
            <a:noAutofit/>
          </a:bodyPr>
          <a:lstStyle/>
          <a:p>
            <a:pPr>
              <a:defRPr/>
            </a:pPr>
            <a:r>
              <a:rPr lang="en-US" sz="4000" dirty="0">
                <a:solidFill>
                  <a:srgbClr val="000000"/>
                </a:solidFill>
                <a:effectLst>
                  <a:outerShdw blurRad="38100" dist="38100" dir="2700000" algn="tl">
                    <a:srgbClr val="FFFFFF"/>
                  </a:outerShdw>
                </a:effectLst>
              </a:rPr>
              <a:t>Two Approaches to Database and IS Development</a:t>
            </a:r>
          </a:p>
        </p:txBody>
      </p:sp>
      <p:sp>
        <p:nvSpPr>
          <p:cNvPr id="14339" name="Rectangle 3">
            <a:extLst>
              <a:ext uri="{FF2B5EF4-FFF2-40B4-BE49-F238E27FC236}">
                <a16:creationId xmlns:a16="http://schemas.microsoft.com/office/drawing/2014/main" id="{361E7609-1AF3-65CF-6B52-113F1EF156E8}"/>
              </a:ext>
            </a:extLst>
          </p:cNvPr>
          <p:cNvSpPr>
            <a:spLocks noGrp="1" noChangeArrowheads="1"/>
          </p:cNvSpPr>
          <p:nvPr>
            <p:ph idx="1"/>
          </p:nvPr>
        </p:nvSpPr>
        <p:spPr>
          <a:xfrm>
            <a:off x="593558" y="1724026"/>
            <a:ext cx="10555705" cy="3736975"/>
          </a:xfrm>
        </p:spPr>
        <p:txBody>
          <a:bodyPr>
            <a:noAutofit/>
          </a:bodyPr>
          <a:lstStyle/>
          <a:p>
            <a:pPr eaLnBrk="1" hangingPunct="1">
              <a:lnSpc>
                <a:spcPct val="90000"/>
              </a:lnSpc>
              <a:defRPr/>
            </a:pPr>
            <a:r>
              <a:rPr lang="en-US" altLang="en-US" dirty="0">
                <a:solidFill>
                  <a:srgbClr val="000000"/>
                </a:solidFill>
                <a:effectLst>
                  <a:outerShdw blurRad="38100" dist="38100" dir="2700000" algn="tl">
                    <a:srgbClr val="C0C0C0"/>
                  </a:outerShdw>
                </a:effectLst>
              </a:rPr>
              <a:t>SDLC</a:t>
            </a:r>
          </a:p>
          <a:p>
            <a:pPr lvl="1" eaLnBrk="1" hangingPunct="1">
              <a:lnSpc>
                <a:spcPct val="90000"/>
              </a:lnSpc>
              <a:defRPr/>
            </a:pPr>
            <a:r>
              <a:rPr lang="en-US" altLang="en-US" dirty="0">
                <a:solidFill>
                  <a:srgbClr val="000000"/>
                </a:solidFill>
                <a:effectLst>
                  <a:outerShdw blurRad="38100" dist="38100" dir="2700000" algn="tl">
                    <a:srgbClr val="C0C0C0"/>
                  </a:outerShdw>
                </a:effectLst>
              </a:rPr>
              <a:t>System Development Life Cycle</a:t>
            </a:r>
          </a:p>
          <a:p>
            <a:pPr lvl="1" eaLnBrk="1" hangingPunct="1">
              <a:lnSpc>
                <a:spcPct val="90000"/>
              </a:lnSpc>
              <a:defRPr/>
            </a:pPr>
            <a:r>
              <a:rPr lang="en-US" altLang="en-US" dirty="0">
                <a:solidFill>
                  <a:srgbClr val="000000"/>
                </a:solidFill>
                <a:effectLst>
                  <a:outerShdw blurRad="38100" dist="38100" dir="2700000" algn="tl">
                    <a:srgbClr val="C0C0C0"/>
                  </a:outerShdw>
                </a:effectLst>
              </a:rPr>
              <a:t>Detailed, well-planned development process</a:t>
            </a:r>
          </a:p>
          <a:p>
            <a:pPr lvl="1" eaLnBrk="1" hangingPunct="1">
              <a:lnSpc>
                <a:spcPct val="90000"/>
              </a:lnSpc>
              <a:defRPr/>
            </a:pPr>
            <a:r>
              <a:rPr lang="en-US" altLang="en-US" dirty="0">
                <a:solidFill>
                  <a:srgbClr val="000000"/>
                </a:solidFill>
                <a:effectLst>
                  <a:outerShdw blurRad="38100" dist="38100" dir="2700000" algn="tl">
                    <a:srgbClr val="C0C0C0"/>
                  </a:outerShdw>
                </a:effectLst>
              </a:rPr>
              <a:t>Time-consuming, but comprehensive</a:t>
            </a:r>
          </a:p>
          <a:p>
            <a:pPr lvl="1" eaLnBrk="1" hangingPunct="1">
              <a:lnSpc>
                <a:spcPct val="90000"/>
              </a:lnSpc>
              <a:defRPr/>
            </a:pPr>
            <a:r>
              <a:rPr lang="en-US" altLang="en-US" dirty="0">
                <a:solidFill>
                  <a:srgbClr val="000000"/>
                </a:solidFill>
                <a:effectLst>
                  <a:outerShdw blurRad="38100" dist="38100" dir="2700000" algn="tl">
                    <a:srgbClr val="C0C0C0"/>
                  </a:outerShdw>
                </a:effectLst>
              </a:rPr>
              <a:t>Long development cycle</a:t>
            </a:r>
          </a:p>
          <a:p>
            <a:pPr eaLnBrk="1" hangingPunct="1">
              <a:lnSpc>
                <a:spcPct val="90000"/>
              </a:lnSpc>
              <a:defRPr/>
            </a:pPr>
            <a:r>
              <a:rPr lang="en-US" altLang="en-US" dirty="0">
                <a:solidFill>
                  <a:srgbClr val="000000"/>
                </a:solidFill>
                <a:effectLst>
                  <a:outerShdw blurRad="38100" dist="38100" dir="2700000" algn="tl">
                    <a:srgbClr val="C0C0C0"/>
                  </a:outerShdw>
                </a:effectLst>
              </a:rPr>
              <a:t>Prototyping</a:t>
            </a:r>
          </a:p>
          <a:p>
            <a:pPr lvl="1" eaLnBrk="1" hangingPunct="1">
              <a:lnSpc>
                <a:spcPct val="90000"/>
              </a:lnSpc>
              <a:defRPr/>
            </a:pPr>
            <a:r>
              <a:rPr lang="en-US" altLang="en-US" dirty="0">
                <a:solidFill>
                  <a:srgbClr val="000000"/>
                </a:solidFill>
                <a:effectLst>
                  <a:outerShdw blurRad="38100" dist="38100" dir="2700000" algn="tl">
                    <a:srgbClr val="C0C0C0"/>
                  </a:outerShdw>
                </a:effectLst>
              </a:rPr>
              <a:t>Rapid application development (RAD)</a:t>
            </a:r>
          </a:p>
          <a:p>
            <a:pPr lvl="1" eaLnBrk="1" hangingPunct="1">
              <a:lnSpc>
                <a:spcPct val="90000"/>
              </a:lnSpc>
              <a:defRPr/>
            </a:pPr>
            <a:r>
              <a:rPr lang="en-US" altLang="en-US" dirty="0">
                <a:solidFill>
                  <a:srgbClr val="000000"/>
                </a:solidFill>
                <a:effectLst>
                  <a:outerShdw blurRad="38100" dist="38100" dir="2700000" algn="tl">
                    <a:srgbClr val="C0C0C0"/>
                  </a:outerShdw>
                </a:effectLst>
              </a:rPr>
              <a:t>Cursory attempt at conceptual data modeling</a:t>
            </a:r>
          </a:p>
          <a:p>
            <a:pPr lvl="1" eaLnBrk="1" hangingPunct="1">
              <a:lnSpc>
                <a:spcPct val="90000"/>
              </a:lnSpc>
              <a:defRPr/>
            </a:pPr>
            <a:r>
              <a:rPr lang="en-US" altLang="en-US" dirty="0">
                <a:solidFill>
                  <a:srgbClr val="000000"/>
                </a:solidFill>
                <a:effectLst>
                  <a:outerShdw blurRad="38100" dist="38100" dir="2700000" algn="tl">
                    <a:srgbClr val="C0C0C0"/>
                  </a:outerShdw>
                </a:effectLst>
              </a:rPr>
              <a:t>Define database during development of initial prototype</a:t>
            </a:r>
          </a:p>
          <a:p>
            <a:pPr lvl="1" eaLnBrk="1" hangingPunct="1">
              <a:lnSpc>
                <a:spcPct val="90000"/>
              </a:lnSpc>
              <a:defRPr/>
            </a:pPr>
            <a:r>
              <a:rPr lang="en-US" altLang="en-US" dirty="0">
                <a:solidFill>
                  <a:srgbClr val="000000"/>
                </a:solidFill>
                <a:effectLst>
                  <a:outerShdw blurRad="38100" dist="38100" dir="2700000" algn="tl">
                    <a:srgbClr val="C0C0C0"/>
                  </a:outerShdw>
                </a:effectLst>
              </a:rPr>
              <a:t>Repeat implementation and maintenance activities with new prototype versions</a:t>
            </a:r>
          </a:p>
          <a:p>
            <a:pPr lvl="1" eaLnBrk="1" hangingPunct="1">
              <a:lnSpc>
                <a:spcPct val="90000"/>
              </a:lnSpc>
              <a:defRPr/>
            </a:pPr>
            <a:endParaRPr lang="en-US" altLang="en-US" dirty="0">
              <a:solidFill>
                <a:srgbClr val="000000"/>
              </a:solidFill>
              <a:effectLst>
                <a:outerShdw blurRad="38100" dist="38100" dir="2700000" algn="tl">
                  <a:srgbClr val="C0C0C0"/>
                </a:outerShdw>
              </a:effectLs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72240008-ABFC-9FA0-43AD-DA534C34F368}"/>
              </a:ext>
            </a:extLst>
          </p:cNvPr>
          <p:cNvSpPr>
            <a:spLocks noGrp="1" noChangeArrowheads="1"/>
          </p:cNvSpPr>
          <p:nvPr>
            <p:ph type="title"/>
          </p:nvPr>
        </p:nvSpPr>
        <p:spPr>
          <a:xfrm>
            <a:off x="593558" y="503238"/>
            <a:ext cx="10282989" cy="1143000"/>
          </a:xfrm>
        </p:spPr>
        <p:txBody>
          <a:bodyPr>
            <a:normAutofit fontScale="90000"/>
          </a:bodyPr>
          <a:lstStyle/>
          <a:p>
            <a:pPr>
              <a:defRPr/>
            </a:pPr>
            <a:r>
              <a:rPr lang="en-US" dirty="0">
                <a:solidFill>
                  <a:srgbClr val="000000"/>
                </a:solidFill>
                <a:effectLst>
                  <a:outerShdw blurRad="38100" dist="38100" dir="2700000" algn="tl">
                    <a:srgbClr val="FFFFFF"/>
                  </a:outerShdw>
                </a:effectLst>
              </a:rPr>
              <a:t>Systems Development Life Cycle</a:t>
            </a:r>
            <a:br>
              <a:rPr lang="en-US" dirty="0">
                <a:solidFill>
                  <a:srgbClr val="000000"/>
                </a:solidFill>
                <a:effectLst>
                  <a:outerShdw blurRad="38100" dist="38100" dir="2700000" algn="tl">
                    <a:srgbClr val="FFFFFF"/>
                  </a:outerShdw>
                </a:effectLst>
              </a:rPr>
            </a:br>
            <a:r>
              <a:rPr lang="en-US" dirty="0">
                <a:solidFill>
                  <a:srgbClr val="000000"/>
                </a:solidFill>
                <a:effectLst>
                  <a:outerShdw blurRad="38100" dist="38100" dir="2700000" algn="tl">
                    <a:srgbClr val="FFFFFF"/>
                  </a:outerShdw>
                </a:effectLst>
              </a:rPr>
              <a:t> </a:t>
            </a:r>
          </a:p>
        </p:txBody>
      </p:sp>
      <p:grpSp>
        <p:nvGrpSpPr>
          <p:cNvPr id="47108" name="Group 27">
            <a:extLst>
              <a:ext uri="{FF2B5EF4-FFF2-40B4-BE49-F238E27FC236}">
                <a16:creationId xmlns:a16="http://schemas.microsoft.com/office/drawing/2014/main" id="{4682AF27-86B4-735F-AFD0-80E6CB44DD29}"/>
              </a:ext>
            </a:extLst>
          </p:cNvPr>
          <p:cNvGrpSpPr>
            <a:grpSpLocks/>
          </p:cNvGrpSpPr>
          <p:nvPr/>
        </p:nvGrpSpPr>
        <p:grpSpPr bwMode="auto">
          <a:xfrm>
            <a:off x="1981200" y="1676400"/>
            <a:ext cx="8458200" cy="4114800"/>
            <a:chOff x="1008" y="1392"/>
            <a:chExt cx="4608" cy="2256"/>
          </a:xfrm>
        </p:grpSpPr>
        <p:sp>
          <p:nvSpPr>
            <p:cNvPr id="47109" name="Rectangle 5">
              <a:extLst>
                <a:ext uri="{FF2B5EF4-FFF2-40B4-BE49-F238E27FC236}">
                  <a16:creationId xmlns:a16="http://schemas.microsoft.com/office/drawing/2014/main" id="{A7DA506F-C190-422D-95BA-3E63CF4F5953}"/>
                </a:ext>
              </a:extLst>
            </p:cNvPr>
            <p:cNvSpPr>
              <a:spLocks noChangeArrowheads="1"/>
            </p:cNvSpPr>
            <p:nvPr/>
          </p:nvSpPr>
          <p:spPr bwMode="auto">
            <a:xfrm>
              <a:off x="1008" y="1392"/>
              <a:ext cx="960" cy="28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9pPr>
            </a:lstStyle>
            <a:p>
              <a:pPr algn="ctr">
                <a:spcBef>
                  <a:spcPct val="0"/>
                </a:spcBef>
                <a:buClrTx/>
                <a:buSzTx/>
                <a:buFontTx/>
                <a:buNone/>
              </a:pPr>
              <a:r>
                <a:rPr lang="en-US" altLang="en-US" sz="1800">
                  <a:solidFill>
                    <a:srgbClr val="000000"/>
                  </a:solidFill>
                  <a:latin typeface="Arial Narrow" panose="020B0606020202030204" pitchFamily="34" charset="0"/>
                </a:rPr>
                <a:t>Planning</a:t>
              </a:r>
            </a:p>
          </p:txBody>
        </p:sp>
        <p:sp>
          <p:nvSpPr>
            <p:cNvPr id="47110" name="Rectangle 6">
              <a:extLst>
                <a:ext uri="{FF2B5EF4-FFF2-40B4-BE49-F238E27FC236}">
                  <a16:creationId xmlns:a16="http://schemas.microsoft.com/office/drawing/2014/main" id="{AB250C34-6BF5-F71A-200F-F34249F9E7D5}"/>
                </a:ext>
              </a:extLst>
            </p:cNvPr>
            <p:cNvSpPr>
              <a:spLocks noChangeArrowheads="1"/>
            </p:cNvSpPr>
            <p:nvPr/>
          </p:nvSpPr>
          <p:spPr bwMode="auto">
            <a:xfrm>
              <a:off x="1824" y="1776"/>
              <a:ext cx="960" cy="28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9pPr>
            </a:lstStyle>
            <a:p>
              <a:pPr algn="ctr">
                <a:spcBef>
                  <a:spcPct val="0"/>
                </a:spcBef>
                <a:buClrTx/>
                <a:buSzTx/>
                <a:buFontTx/>
                <a:buNone/>
              </a:pPr>
              <a:r>
                <a:rPr lang="en-US" altLang="en-US" sz="1800">
                  <a:solidFill>
                    <a:srgbClr val="000000"/>
                  </a:solidFill>
                  <a:latin typeface="Arial Narrow" panose="020B0606020202030204" pitchFamily="34" charset="0"/>
                </a:rPr>
                <a:t>Analysis</a:t>
              </a:r>
            </a:p>
          </p:txBody>
        </p:sp>
        <p:sp>
          <p:nvSpPr>
            <p:cNvPr id="47111" name="Rectangle 7">
              <a:extLst>
                <a:ext uri="{FF2B5EF4-FFF2-40B4-BE49-F238E27FC236}">
                  <a16:creationId xmlns:a16="http://schemas.microsoft.com/office/drawing/2014/main" id="{EC358DCA-0EAD-5CFB-532C-2334A56DA5DE}"/>
                </a:ext>
              </a:extLst>
            </p:cNvPr>
            <p:cNvSpPr>
              <a:spLocks noChangeArrowheads="1"/>
            </p:cNvSpPr>
            <p:nvPr/>
          </p:nvSpPr>
          <p:spPr bwMode="auto">
            <a:xfrm>
              <a:off x="3168" y="2592"/>
              <a:ext cx="960" cy="28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9pPr>
            </a:lstStyle>
            <a:p>
              <a:pPr algn="ctr">
                <a:spcBef>
                  <a:spcPct val="0"/>
                </a:spcBef>
                <a:buClrTx/>
                <a:buSzTx/>
                <a:buFontTx/>
                <a:buNone/>
              </a:pPr>
              <a:r>
                <a:rPr lang="en-US" altLang="en-US" sz="1800">
                  <a:solidFill>
                    <a:srgbClr val="000000"/>
                  </a:solidFill>
                  <a:latin typeface="Arial Narrow" panose="020B0606020202030204" pitchFamily="34" charset="0"/>
                </a:rPr>
                <a:t>Physical Design</a:t>
              </a:r>
            </a:p>
          </p:txBody>
        </p:sp>
        <p:sp>
          <p:nvSpPr>
            <p:cNvPr id="47112" name="Rectangle 8">
              <a:extLst>
                <a:ext uri="{FF2B5EF4-FFF2-40B4-BE49-F238E27FC236}">
                  <a16:creationId xmlns:a16="http://schemas.microsoft.com/office/drawing/2014/main" id="{F6F265A4-7CC2-5998-EE33-3B7A9A0461A2}"/>
                </a:ext>
              </a:extLst>
            </p:cNvPr>
            <p:cNvSpPr>
              <a:spLocks noChangeArrowheads="1"/>
            </p:cNvSpPr>
            <p:nvPr/>
          </p:nvSpPr>
          <p:spPr bwMode="auto">
            <a:xfrm>
              <a:off x="3888" y="2976"/>
              <a:ext cx="960" cy="28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9pPr>
            </a:lstStyle>
            <a:p>
              <a:pPr algn="ctr">
                <a:spcBef>
                  <a:spcPct val="0"/>
                </a:spcBef>
                <a:buClrTx/>
                <a:buSzTx/>
                <a:buFontTx/>
                <a:buNone/>
              </a:pPr>
              <a:r>
                <a:rPr lang="en-US" altLang="en-US" sz="1800">
                  <a:solidFill>
                    <a:srgbClr val="000000"/>
                  </a:solidFill>
                  <a:latin typeface="Arial Narrow" panose="020B0606020202030204" pitchFamily="34" charset="0"/>
                </a:rPr>
                <a:t>Implementation</a:t>
              </a:r>
            </a:p>
          </p:txBody>
        </p:sp>
        <p:sp>
          <p:nvSpPr>
            <p:cNvPr id="47113" name="Rectangle 9">
              <a:extLst>
                <a:ext uri="{FF2B5EF4-FFF2-40B4-BE49-F238E27FC236}">
                  <a16:creationId xmlns:a16="http://schemas.microsoft.com/office/drawing/2014/main" id="{32930D73-5D12-66AB-D12F-64B4A9403AA9}"/>
                </a:ext>
              </a:extLst>
            </p:cNvPr>
            <p:cNvSpPr>
              <a:spLocks noChangeArrowheads="1"/>
            </p:cNvSpPr>
            <p:nvPr/>
          </p:nvSpPr>
          <p:spPr bwMode="auto">
            <a:xfrm>
              <a:off x="4656" y="3360"/>
              <a:ext cx="960" cy="28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9pPr>
            </a:lstStyle>
            <a:p>
              <a:pPr algn="ctr">
                <a:spcBef>
                  <a:spcPct val="0"/>
                </a:spcBef>
                <a:buClrTx/>
                <a:buSzTx/>
                <a:buFontTx/>
                <a:buNone/>
              </a:pPr>
              <a:r>
                <a:rPr lang="en-US" altLang="en-US" sz="1800">
                  <a:solidFill>
                    <a:srgbClr val="000000"/>
                  </a:solidFill>
                  <a:latin typeface="Arial Narrow" panose="020B0606020202030204" pitchFamily="34" charset="0"/>
                </a:rPr>
                <a:t>Maintenance</a:t>
              </a:r>
            </a:p>
          </p:txBody>
        </p:sp>
        <p:sp>
          <p:nvSpPr>
            <p:cNvPr id="47114" name="Rectangle 10">
              <a:extLst>
                <a:ext uri="{FF2B5EF4-FFF2-40B4-BE49-F238E27FC236}">
                  <a16:creationId xmlns:a16="http://schemas.microsoft.com/office/drawing/2014/main" id="{B05EFF9B-507A-4807-0E56-C1787C5470D3}"/>
                </a:ext>
              </a:extLst>
            </p:cNvPr>
            <p:cNvSpPr>
              <a:spLocks noChangeArrowheads="1"/>
            </p:cNvSpPr>
            <p:nvPr/>
          </p:nvSpPr>
          <p:spPr bwMode="auto">
            <a:xfrm>
              <a:off x="2400" y="2208"/>
              <a:ext cx="960" cy="28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70000"/>
                <a:buFont typeface="Wingdings 2" panose="05020102010507070707" pitchFamily="18"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anose="05020102010507070707" pitchFamily="18"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anose="05020102010507070707" pitchFamily="18"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anose="05020102010507070707" pitchFamily="18"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anose="05020102010507070707" pitchFamily="18" charset="2"/>
                <a:buChar char=""/>
                <a:defRPr>
                  <a:solidFill>
                    <a:schemeClr val="tx2"/>
                  </a:solidFill>
                  <a:latin typeface="Franklin Gothic Book" panose="020B0503020102020204" pitchFamily="34" charset="0"/>
                </a:defRPr>
              </a:lvl9pPr>
            </a:lstStyle>
            <a:p>
              <a:pPr algn="ctr">
                <a:spcBef>
                  <a:spcPct val="0"/>
                </a:spcBef>
                <a:buClrTx/>
                <a:buSzTx/>
                <a:buFontTx/>
                <a:buNone/>
              </a:pPr>
              <a:r>
                <a:rPr lang="en-US" altLang="en-US" sz="1800">
                  <a:solidFill>
                    <a:srgbClr val="000000"/>
                  </a:solidFill>
                  <a:latin typeface="Arial Narrow" panose="020B0606020202030204" pitchFamily="34" charset="0"/>
                </a:rPr>
                <a:t>Logical Design</a:t>
              </a:r>
            </a:p>
          </p:txBody>
        </p:sp>
        <p:sp>
          <p:nvSpPr>
            <p:cNvPr id="47115" name="Arc 14">
              <a:extLst>
                <a:ext uri="{FF2B5EF4-FFF2-40B4-BE49-F238E27FC236}">
                  <a16:creationId xmlns:a16="http://schemas.microsoft.com/office/drawing/2014/main" id="{38459B3C-F156-CDA6-F062-D13D39A3DF3B}"/>
                </a:ext>
              </a:extLst>
            </p:cNvPr>
            <p:cNvSpPr>
              <a:spLocks/>
            </p:cNvSpPr>
            <p:nvPr/>
          </p:nvSpPr>
          <p:spPr bwMode="auto">
            <a:xfrm>
              <a:off x="1968" y="1392"/>
              <a:ext cx="528" cy="3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80"/>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D"/>
            </a:p>
          </p:txBody>
        </p:sp>
        <p:sp>
          <p:nvSpPr>
            <p:cNvPr id="47116" name="Arc 15">
              <a:extLst>
                <a:ext uri="{FF2B5EF4-FFF2-40B4-BE49-F238E27FC236}">
                  <a16:creationId xmlns:a16="http://schemas.microsoft.com/office/drawing/2014/main" id="{CC2DA448-8E4A-86ED-BFB9-5C14BE3DE7A7}"/>
                </a:ext>
              </a:extLst>
            </p:cNvPr>
            <p:cNvSpPr>
              <a:spLocks/>
            </p:cNvSpPr>
            <p:nvPr/>
          </p:nvSpPr>
          <p:spPr bwMode="auto">
            <a:xfrm>
              <a:off x="2784" y="1824"/>
              <a:ext cx="528" cy="3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80"/>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D"/>
            </a:p>
          </p:txBody>
        </p:sp>
        <p:sp>
          <p:nvSpPr>
            <p:cNvPr id="47117" name="Arc 16">
              <a:extLst>
                <a:ext uri="{FF2B5EF4-FFF2-40B4-BE49-F238E27FC236}">
                  <a16:creationId xmlns:a16="http://schemas.microsoft.com/office/drawing/2014/main" id="{12D36E46-D2AF-23C6-6A20-3BFD8BAF5AEF}"/>
                </a:ext>
              </a:extLst>
            </p:cNvPr>
            <p:cNvSpPr>
              <a:spLocks/>
            </p:cNvSpPr>
            <p:nvPr/>
          </p:nvSpPr>
          <p:spPr bwMode="auto">
            <a:xfrm>
              <a:off x="3408" y="2208"/>
              <a:ext cx="528" cy="3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80"/>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D"/>
            </a:p>
          </p:txBody>
        </p:sp>
        <p:sp>
          <p:nvSpPr>
            <p:cNvPr id="47118" name="Arc 17">
              <a:extLst>
                <a:ext uri="{FF2B5EF4-FFF2-40B4-BE49-F238E27FC236}">
                  <a16:creationId xmlns:a16="http://schemas.microsoft.com/office/drawing/2014/main" id="{0570324C-0B28-321E-F88E-F80D9496E481}"/>
                </a:ext>
              </a:extLst>
            </p:cNvPr>
            <p:cNvSpPr>
              <a:spLocks/>
            </p:cNvSpPr>
            <p:nvPr/>
          </p:nvSpPr>
          <p:spPr bwMode="auto">
            <a:xfrm>
              <a:off x="4128" y="2592"/>
              <a:ext cx="528" cy="3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80"/>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D"/>
            </a:p>
          </p:txBody>
        </p:sp>
        <p:sp>
          <p:nvSpPr>
            <p:cNvPr id="47119" name="Arc 18">
              <a:extLst>
                <a:ext uri="{FF2B5EF4-FFF2-40B4-BE49-F238E27FC236}">
                  <a16:creationId xmlns:a16="http://schemas.microsoft.com/office/drawing/2014/main" id="{7984E141-C1DD-0AE2-F09B-0345151C6C91}"/>
                </a:ext>
              </a:extLst>
            </p:cNvPr>
            <p:cNvSpPr>
              <a:spLocks/>
            </p:cNvSpPr>
            <p:nvPr/>
          </p:nvSpPr>
          <p:spPr bwMode="auto">
            <a:xfrm>
              <a:off x="4848" y="2976"/>
              <a:ext cx="528" cy="3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80"/>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D"/>
            </a:p>
          </p:txBody>
        </p:sp>
        <p:sp>
          <p:nvSpPr>
            <p:cNvPr id="47120" name="Arc 19">
              <a:extLst>
                <a:ext uri="{FF2B5EF4-FFF2-40B4-BE49-F238E27FC236}">
                  <a16:creationId xmlns:a16="http://schemas.microsoft.com/office/drawing/2014/main" id="{C230C6D0-D071-C547-7BE4-FB2E1DD95C92}"/>
                </a:ext>
              </a:extLst>
            </p:cNvPr>
            <p:cNvSpPr>
              <a:spLocks/>
            </p:cNvSpPr>
            <p:nvPr/>
          </p:nvSpPr>
          <p:spPr bwMode="auto">
            <a:xfrm flipH="1" flipV="1">
              <a:off x="3984" y="3264"/>
              <a:ext cx="672" cy="3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80"/>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D"/>
            </a:p>
          </p:txBody>
        </p:sp>
        <p:sp>
          <p:nvSpPr>
            <p:cNvPr id="47121" name="Arc 20">
              <a:extLst>
                <a:ext uri="{FF2B5EF4-FFF2-40B4-BE49-F238E27FC236}">
                  <a16:creationId xmlns:a16="http://schemas.microsoft.com/office/drawing/2014/main" id="{AFE6B971-B23E-5BF4-3BA0-5435D9EF8771}"/>
                </a:ext>
              </a:extLst>
            </p:cNvPr>
            <p:cNvSpPr>
              <a:spLocks/>
            </p:cNvSpPr>
            <p:nvPr/>
          </p:nvSpPr>
          <p:spPr bwMode="auto">
            <a:xfrm flipH="1" flipV="1">
              <a:off x="3168" y="2880"/>
              <a:ext cx="672" cy="3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80"/>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D"/>
            </a:p>
          </p:txBody>
        </p:sp>
        <p:sp>
          <p:nvSpPr>
            <p:cNvPr id="47122" name="Arc 21">
              <a:extLst>
                <a:ext uri="{FF2B5EF4-FFF2-40B4-BE49-F238E27FC236}">
                  <a16:creationId xmlns:a16="http://schemas.microsoft.com/office/drawing/2014/main" id="{6D9F738D-71DD-045B-0CD2-D4D1C88D757F}"/>
                </a:ext>
              </a:extLst>
            </p:cNvPr>
            <p:cNvSpPr>
              <a:spLocks/>
            </p:cNvSpPr>
            <p:nvPr/>
          </p:nvSpPr>
          <p:spPr bwMode="auto">
            <a:xfrm flipH="1" flipV="1">
              <a:off x="2496" y="2496"/>
              <a:ext cx="672" cy="3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80"/>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D"/>
            </a:p>
          </p:txBody>
        </p:sp>
        <p:sp>
          <p:nvSpPr>
            <p:cNvPr id="47123" name="Arc 22">
              <a:extLst>
                <a:ext uri="{FF2B5EF4-FFF2-40B4-BE49-F238E27FC236}">
                  <a16:creationId xmlns:a16="http://schemas.microsoft.com/office/drawing/2014/main" id="{50716C69-0909-6AC0-E842-135BF0328C5B}"/>
                </a:ext>
              </a:extLst>
            </p:cNvPr>
            <p:cNvSpPr>
              <a:spLocks/>
            </p:cNvSpPr>
            <p:nvPr/>
          </p:nvSpPr>
          <p:spPr bwMode="auto">
            <a:xfrm flipH="1" flipV="1">
              <a:off x="1824" y="2112"/>
              <a:ext cx="576" cy="3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80"/>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D"/>
            </a:p>
          </p:txBody>
        </p:sp>
        <p:sp>
          <p:nvSpPr>
            <p:cNvPr id="47124" name="Arc 23">
              <a:extLst>
                <a:ext uri="{FF2B5EF4-FFF2-40B4-BE49-F238E27FC236}">
                  <a16:creationId xmlns:a16="http://schemas.microsoft.com/office/drawing/2014/main" id="{888DB0A3-AB7A-B2BB-7940-B39DF0CEEC59}"/>
                </a:ext>
              </a:extLst>
            </p:cNvPr>
            <p:cNvSpPr>
              <a:spLocks/>
            </p:cNvSpPr>
            <p:nvPr/>
          </p:nvSpPr>
          <p:spPr bwMode="auto">
            <a:xfrm flipH="1" flipV="1">
              <a:off x="1248" y="1680"/>
              <a:ext cx="576" cy="3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80"/>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D"/>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02021"/>
            <a:ext cx="10328447" cy="1744415"/>
          </a:xfrm>
        </p:spPr>
        <p:txBody>
          <a:bodyPr/>
          <a:lstStyle/>
          <a:p>
            <a:r>
              <a:rPr lang="en-US" dirty="0"/>
              <a:t>Data Warehouse</a:t>
            </a:r>
            <a:endParaRPr dirty="0"/>
          </a:p>
        </p:txBody>
      </p:sp>
      <p:sp>
        <p:nvSpPr>
          <p:cNvPr id="3" name="Content Placeholder 2"/>
          <p:cNvSpPr>
            <a:spLocks noGrp="1"/>
          </p:cNvSpPr>
          <p:nvPr>
            <p:ph idx="1"/>
          </p:nvPr>
        </p:nvSpPr>
        <p:spPr>
          <a:xfrm>
            <a:off x="352925" y="1846436"/>
            <a:ext cx="11149263" cy="4271038"/>
          </a:xfrm>
        </p:spPr>
        <p:txBody>
          <a:bodyPr>
            <a:normAutofit lnSpcReduction="10000"/>
          </a:bodyPr>
          <a:lstStyle/>
          <a:p>
            <a:r>
              <a:rPr dirty="0"/>
              <a:t>Data Warehouse: Basis data </a:t>
            </a:r>
            <a:r>
              <a:rPr dirty="0" err="1"/>
              <a:t>untuk</a:t>
            </a:r>
            <a:r>
              <a:rPr dirty="0"/>
              <a:t> </a:t>
            </a:r>
            <a:r>
              <a:rPr dirty="0" err="1"/>
              <a:t>analisis</a:t>
            </a:r>
            <a:r>
              <a:rPr dirty="0"/>
              <a:t> </a:t>
            </a:r>
            <a:r>
              <a:rPr dirty="0" err="1"/>
              <a:t>bisnis</a:t>
            </a:r>
            <a:r>
              <a:rPr dirty="0"/>
              <a:t> dan </a:t>
            </a:r>
            <a:r>
              <a:rPr dirty="0" err="1"/>
              <a:t>pengambilan</a:t>
            </a:r>
            <a:r>
              <a:rPr dirty="0"/>
              <a:t> </a:t>
            </a:r>
            <a:r>
              <a:rPr dirty="0" err="1"/>
              <a:t>keputusan</a:t>
            </a:r>
            <a:r>
              <a:rPr dirty="0"/>
              <a:t>.</a:t>
            </a:r>
          </a:p>
          <a:p>
            <a:r>
              <a:rPr lang="en-ID" dirty="0"/>
              <a:t> </a:t>
            </a:r>
            <a:r>
              <a:rPr dirty="0" err="1"/>
              <a:t>Karakteristik</a:t>
            </a:r>
            <a:r>
              <a:rPr dirty="0"/>
              <a:t>:</a:t>
            </a:r>
          </a:p>
          <a:p>
            <a:pPr marL="457200" indent="-457200">
              <a:buFont typeface="Arial" panose="020B0604020202020204" pitchFamily="34" charset="0"/>
              <a:buChar char="•"/>
            </a:pPr>
            <a:r>
              <a:rPr dirty="0" err="1"/>
              <a:t>Terintegrasi</a:t>
            </a:r>
            <a:r>
              <a:rPr dirty="0"/>
              <a:t> (</a:t>
            </a:r>
            <a:r>
              <a:rPr dirty="0" err="1"/>
              <a:t>menggabungkan</a:t>
            </a:r>
            <a:r>
              <a:rPr dirty="0"/>
              <a:t> data </a:t>
            </a:r>
            <a:r>
              <a:rPr dirty="0" err="1"/>
              <a:t>dari</a:t>
            </a:r>
            <a:r>
              <a:rPr dirty="0"/>
              <a:t> </a:t>
            </a:r>
            <a:r>
              <a:rPr dirty="0" err="1"/>
              <a:t>berbagai</a:t>
            </a:r>
            <a:r>
              <a:rPr dirty="0"/>
              <a:t> </a:t>
            </a:r>
            <a:r>
              <a:rPr dirty="0" err="1"/>
              <a:t>sumber</a:t>
            </a:r>
            <a:r>
              <a:rPr dirty="0"/>
              <a:t>).</a:t>
            </a:r>
          </a:p>
          <a:p>
            <a:pPr marL="457200" indent="-457200">
              <a:buFont typeface="Arial" panose="020B0604020202020204" pitchFamily="34" charset="0"/>
              <a:buChar char="•"/>
            </a:pPr>
            <a:r>
              <a:rPr dirty="0" err="1"/>
              <a:t>Bervariasi</a:t>
            </a:r>
            <a:r>
              <a:rPr dirty="0"/>
              <a:t> </a:t>
            </a:r>
            <a:r>
              <a:rPr dirty="0" err="1"/>
              <a:t>waktu</a:t>
            </a:r>
            <a:r>
              <a:rPr dirty="0"/>
              <a:t> (</a:t>
            </a:r>
            <a:r>
              <a:rPr dirty="0" err="1"/>
              <a:t>menyimpan</a:t>
            </a:r>
            <a:r>
              <a:rPr dirty="0"/>
              <a:t> data </a:t>
            </a:r>
            <a:r>
              <a:rPr dirty="0" err="1"/>
              <a:t>historis</a:t>
            </a:r>
            <a:r>
              <a:rPr dirty="0"/>
              <a:t>).</a:t>
            </a:r>
          </a:p>
          <a:p>
            <a:pPr marL="457200" indent="-457200">
              <a:buFont typeface="Arial" panose="020B0604020202020204" pitchFamily="34" charset="0"/>
              <a:buChar char="•"/>
            </a:pPr>
            <a:r>
              <a:rPr dirty="0" err="1"/>
              <a:t>Tidak</a:t>
            </a:r>
            <a:r>
              <a:rPr dirty="0"/>
              <a:t> </a:t>
            </a:r>
            <a:r>
              <a:rPr dirty="0" err="1"/>
              <a:t>dapat</a:t>
            </a:r>
            <a:r>
              <a:rPr dirty="0"/>
              <a:t> </a:t>
            </a:r>
            <a:r>
              <a:rPr dirty="0" err="1"/>
              <a:t>diperbarui</a:t>
            </a:r>
            <a:r>
              <a:rPr dirty="0"/>
              <a:t> (</a:t>
            </a:r>
            <a:r>
              <a:rPr dirty="0" err="1"/>
              <a:t>hanya</a:t>
            </a:r>
            <a:r>
              <a:rPr dirty="0"/>
              <a:t> </a:t>
            </a:r>
            <a:r>
              <a:rPr dirty="0" err="1"/>
              <a:t>bisa</a:t>
            </a:r>
            <a:r>
              <a:rPr dirty="0"/>
              <a:t> </a:t>
            </a:r>
            <a:r>
              <a:rPr dirty="0" err="1"/>
              <a:t>dibaca</a:t>
            </a:r>
            <a:r>
              <a:rPr dirty="0"/>
              <a:t> dan </a:t>
            </a:r>
            <a:r>
              <a:rPr dirty="0" err="1"/>
              <a:t>diperbarui</a:t>
            </a:r>
            <a:r>
              <a:rPr dirty="0"/>
              <a:t> </a:t>
            </a:r>
            <a:r>
              <a:rPr dirty="0" err="1"/>
              <a:t>secara</a:t>
            </a:r>
            <a:r>
              <a:rPr dirty="0"/>
              <a:t> </a:t>
            </a:r>
            <a:r>
              <a:rPr dirty="0" err="1"/>
              <a:t>berkala</a:t>
            </a:r>
            <a:r>
              <a:rPr dirty="0"/>
              <a:t>).</a:t>
            </a:r>
            <a:endParaRPr lang="en-US" dirty="0"/>
          </a:p>
          <a:p>
            <a:pPr marL="457200" indent="-457200">
              <a:buFont typeface="Arial" panose="020B0604020202020204" pitchFamily="34" charset="0"/>
              <a:buChar char="•"/>
            </a:pPr>
            <a:r>
              <a:rPr lang="en-ID" dirty="0" err="1"/>
              <a:t>Subjektif</a:t>
            </a:r>
            <a:r>
              <a:rPr lang="en-ID" dirty="0"/>
              <a:t> (</a:t>
            </a:r>
            <a:r>
              <a:rPr lang="en-ID" dirty="0" err="1"/>
              <a:t>contoh</a:t>
            </a:r>
            <a:r>
              <a:rPr lang="en-ID" dirty="0"/>
              <a:t>: data </a:t>
            </a:r>
            <a:r>
              <a:rPr lang="en-ID" dirty="0" err="1"/>
              <a:t>untuk</a:t>
            </a:r>
            <a:r>
              <a:rPr lang="en-ID" dirty="0"/>
              <a:t> </a:t>
            </a:r>
            <a:r>
              <a:rPr lang="en-ID" dirty="0" err="1"/>
              <a:t>kostumer</a:t>
            </a:r>
            <a:r>
              <a:rPr lang="en-ID" dirty="0"/>
              <a:t>)</a:t>
            </a:r>
          </a:p>
          <a:p>
            <a:pPr marL="457200" indent="-457200">
              <a:buFont typeface="Arial" panose="020B0604020202020204" pitchFamily="34" charset="0"/>
              <a:buChar char="•"/>
            </a:pPr>
            <a:r>
              <a:rPr lang="en-US" dirty="0"/>
              <a:t>Data Mart: Subset </a:t>
            </a:r>
            <a:r>
              <a:rPr lang="en-US" dirty="0" err="1"/>
              <a:t>dari</a:t>
            </a:r>
            <a:r>
              <a:rPr lang="en-US" dirty="0"/>
              <a:t> data warehouse yang </a:t>
            </a:r>
            <a:r>
              <a:rPr lang="en-US" dirty="0" err="1"/>
              <a:t>memiliki</a:t>
            </a:r>
            <a:r>
              <a:rPr lang="en-US" dirty="0"/>
              <a:t> </a:t>
            </a:r>
            <a:r>
              <a:rPr lang="en-US" dirty="0" err="1"/>
              <a:t>cakupan</a:t>
            </a:r>
            <a:r>
              <a:rPr lang="en-US" dirty="0"/>
              <a:t> </a:t>
            </a:r>
            <a:r>
              <a:rPr lang="en-US" dirty="0" err="1"/>
              <a:t>terbatas</a:t>
            </a:r>
            <a:r>
              <a:rPr lang="en-US" dirty="0"/>
              <a:t>.</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Sejarah </a:t>
            </a:r>
            <a:r>
              <a:rPr dirty="0" err="1"/>
              <a:t>Perkembangan</a:t>
            </a:r>
            <a:r>
              <a:rPr dirty="0"/>
              <a:t> </a:t>
            </a:r>
            <a:r>
              <a:rPr lang="en-US" dirty="0"/>
              <a:t>Data Warehouse</a:t>
            </a:r>
            <a:endParaRPr dirty="0"/>
          </a:p>
        </p:txBody>
      </p:sp>
      <p:sp>
        <p:nvSpPr>
          <p:cNvPr id="3" name="Content Placeholder 2"/>
          <p:cNvSpPr>
            <a:spLocks noGrp="1"/>
          </p:cNvSpPr>
          <p:nvPr>
            <p:ph idx="1"/>
          </p:nvPr>
        </p:nvSpPr>
        <p:spPr/>
        <p:txBody>
          <a:bodyPr/>
          <a:lstStyle/>
          <a:p>
            <a:pPr marL="457200" indent="-457200">
              <a:buFont typeface="Arial" panose="020B0604020202020204" pitchFamily="34" charset="0"/>
              <a:buChar char="•"/>
            </a:pPr>
            <a:r>
              <a:rPr dirty="0" err="1"/>
              <a:t>Kemajuan</a:t>
            </a:r>
            <a:r>
              <a:rPr dirty="0"/>
              <a:t> </a:t>
            </a:r>
            <a:r>
              <a:rPr dirty="0" err="1"/>
              <a:t>teknologi</a:t>
            </a:r>
            <a:r>
              <a:rPr dirty="0"/>
              <a:t> basis data: RDBMS </a:t>
            </a:r>
            <a:r>
              <a:rPr dirty="0" err="1"/>
              <a:t>memungkinkan</a:t>
            </a:r>
            <a:r>
              <a:rPr dirty="0"/>
              <a:t> </a:t>
            </a:r>
            <a:r>
              <a:rPr dirty="0" err="1"/>
              <a:t>penyimpanan</a:t>
            </a:r>
            <a:r>
              <a:rPr dirty="0"/>
              <a:t> data yang </a:t>
            </a:r>
            <a:r>
              <a:rPr dirty="0" err="1"/>
              <a:t>lebih</a:t>
            </a:r>
            <a:r>
              <a:rPr dirty="0"/>
              <a:t> </a:t>
            </a:r>
            <a:r>
              <a:rPr dirty="0" err="1"/>
              <a:t>terstruktur</a:t>
            </a:r>
            <a:r>
              <a:rPr dirty="0"/>
              <a:t>.</a:t>
            </a:r>
          </a:p>
          <a:p>
            <a:pPr marL="457200" indent="-457200">
              <a:buFont typeface="Arial" panose="020B0604020202020204" pitchFamily="34" charset="0"/>
              <a:buChar char="•"/>
            </a:pPr>
            <a:r>
              <a:rPr dirty="0" err="1"/>
              <a:t>Kemajuan</a:t>
            </a:r>
            <a:r>
              <a:rPr dirty="0"/>
              <a:t> </a:t>
            </a:r>
            <a:r>
              <a:rPr dirty="0" err="1"/>
              <a:t>perangkat</a:t>
            </a:r>
            <a:r>
              <a:rPr dirty="0"/>
              <a:t> </a:t>
            </a:r>
            <a:r>
              <a:rPr dirty="0" err="1"/>
              <a:t>keras</a:t>
            </a:r>
            <a:r>
              <a:rPr dirty="0"/>
              <a:t>: </a:t>
            </a:r>
            <a:r>
              <a:rPr dirty="0" err="1"/>
              <a:t>Penyimpanan</a:t>
            </a:r>
            <a:r>
              <a:rPr dirty="0"/>
              <a:t> </a:t>
            </a:r>
            <a:r>
              <a:rPr dirty="0" err="1"/>
              <a:t>massal</a:t>
            </a:r>
            <a:r>
              <a:rPr dirty="0"/>
              <a:t> dan </a:t>
            </a:r>
            <a:r>
              <a:rPr dirty="0" err="1"/>
              <a:t>komputasi</a:t>
            </a:r>
            <a:r>
              <a:rPr dirty="0"/>
              <a:t> </a:t>
            </a:r>
            <a:r>
              <a:rPr dirty="0" err="1"/>
              <a:t>paralel</a:t>
            </a:r>
            <a:r>
              <a:rPr dirty="0"/>
              <a:t> </a:t>
            </a:r>
            <a:r>
              <a:rPr dirty="0" err="1"/>
              <a:t>mempercepat</a:t>
            </a:r>
            <a:r>
              <a:rPr dirty="0"/>
              <a:t> </a:t>
            </a:r>
            <a:r>
              <a:rPr dirty="0" err="1"/>
              <a:t>pemrosesan</a:t>
            </a:r>
            <a:r>
              <a:rPr dirty="0"/>
              <a:t> data.</a:t>
            </a:r>
          </a:p>
          <a:p>
            <a:pPr marL="457200" indent="-457200">
              <a:buFont typeface="Arial" panose="020B0604020202020204" pitchFamily="34" charset="0"/>
              <a:buChar char="•"/>
            </a:pPr>
            <a:r>
              <a:rPr dirty="0" err="1"/>
              <a:t>Perbedaan</a:t>
            </a:r>
            <a:r>
              <a:rPr dirty="0"/>
              <a:t> </a:t>
            </a:r>
            <a:r>
              <a:rPr dirty="0" err="1"/>
              <a:t>Sistem</a:t>
            </a:r>
            <a:r>
              <a:rPr dirty="0"/>
              <a:t> </a:t>
            </a:r>
            <a:r>
              <a:rPr dirty="0" err="1"/>
              <a:t>Operasional</a:t>
            </a:r>
            <a:r>
              <a:rPr dirty="0"/>
              <a:t> &amp; </a:t>
            </a:r>
            <a:r>
              <a:rPr dirty="0" err="1"/>
              <a:t>Informasi</a:t>
            </a:r>
            <a:r>
              <a:rPr dirty="0"/>
              <a:t>: </a:t>
            </a:r>
            <a:r>
              <a:rPr dirty="0" err="1"/>
              <a:t>Sistem</a:t>
            </a:r>
            <a:r>
              <a:rPr dirty="0"/>
              <a:t> </a:t>
            </a:r>
            <a:r>
              <a:rPr dirty="0" err="1"/>
              <a:t>operasional</a:t>
            </a:r>
            <a:r>
              <a:rPr dirty="0"/>
              <a:t> </a:t>
            </a:r>
            <a:r>
              <a:rPr dirty="0" err="1"/>
              <a:t>menangani</a:t>
            </a:r>
            <a:r>
              <a:rPr dirty="0"/>
              <a:t> </a:t>
            </a:r>
            <a:r>
              <a:rPr dirty="0" err="1"/>
              <a:t>transaksi</a:t>
            </a:r>
            <a:r>
              <a:rPr dirty="0"/>
              <a:t> real-time, </a:t>
            </a:r>
            <a:r>
              <a:rPr dirty="0" err="1"/>
              <a:t>sedangkan</a:t>
            </a:r>
            <a:r>
              <a:rPr dirty="0"/>
              <a:t> data warehouse </a:t>
            </a:r>
            <a:r>
              <a:rPr dirty="0" err="1"/>
              <a:t>menangani</a:t>
            </a:r>
            <a:r>
              <a:rPr dirty="0"/>
              <a:t> </a:t>
            </a:r>
            <a:r>
              <a:rPr dirty="0" err="1"/>
              <a:t>analisis</a:t>
            </a:r>
            <a:r>
              <a:rPr dirty="0"/>
              <a:t> </a:t>
            </a:r>
            <a:r>
              <a:rPr dirty="0" err="1"/>
              <a:t>historis</a:t>
            </a:r>
            <a:r>
              <a:rPr dirty="0"/>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Kebutuhan</a:t>
            </a:r>
            <a:r>
              <a:rPr dirty="0"/>
              <a:t> </a:t>
            </a:r>
            <a:r>
              <a:rPr lang="en-US" dirty="0"/>
              <a:t>Data Warehouse</a:t>
            </a:r>
            <a:endParaRPr dirty="0"/>
          </a:p>
        </p:txBody>
      </p:sp>
      <p:sp>
        <p:nvSpPr>
          <p:cNvPr id="3" name="Content Placeholder 2"/>
          <p:cNvSpPr>
            <a:spLocks noGrp="1"/>
          </p:cNvSpPr>
          <p:nvPr>
            <p:ph idx="1"/>
          </p:nvPr>
        </p:nvSpPr>
        <p:spPr/>
        <p:txBody>
          <a:bodyPr/>
          <a:lstStyle/>
          <a:p>
            <a:pPr marL="457200" indent="-457200">
              <a:buFont typeface="Arial" panose="020B0604020202020204" pitchFamily="34" charset="0"/>
              <a:buChar char="•"/>
            </a:pPr>
            <a:r>
              <a:rPr lang="en-ID" dirty="0"/>
              <a:t> </a:t>
            </a:r>
            <a:r>
              <a:rPr dirty="0" err="1"/>
              <a:t>Pandangan</a:t>
            </a:r>
            <a:r>
              <a:rPr dirty="0"/>
              <a:t> Perusahaan yang </a:t>
            </a:r>
            <a:r>
              <a:rPr dirty="0" err="1"/>
              <a:t>Terintegrasi</a:t>
            </a:r>
            <a:r>
              <a:rPr dirty="0"/>
              <a:t>: </a:t>
            </a:r>
            <a:r>
              <a:rPr dirty="0" err="1"/>
              <a:t>Menggabungkan</a:t>
            </a:r>
            <a:r>
              <a:rPr dirty="0"/>
              <a:t> data </a:t>
            </a:r>
            <a:r>
              <a:rPr dirty="0" err="1"/>
              <a:t>dari</a:t>
            </a:r>
            <a:r>
              <a:rPr dirty="0"/>
              <a:t> </a:t>
            </a:r>
            <a:r>
              <a:rPr dirty="0" err="1"/>
              <a:t>berbagai</a:t>
            </a:r>
            <a:r>
              <a:rPr dirty="0"/>
              <a:t> </a:t>
            </a:r>
            <a:r>
              <a:rPr dirty="0" err="1"/>
              <a:t>departemen</a:t>
            </a:r>
            <a:r>
              <a:rPr dirty="0"/>
              <a:t>.</a:t>
            </a:r>
          </a:p>
          <a:p>
            <a:pPr marL="457200" indent="-457200">
              <a:buFont typeface="Arial" panose="020B0604020202020204" pitchFamily="34" charset="0"/>
              <a:buChar char="•"/>
            </a:pPr>
            <a:r>
              <a:rPr lang="en-ID" dirty="0"/>
              <a:t> </a:t>
            </a:r>
            <a:r>
              <a:rPr dirty="0" err="1"/>
              <a:t>Pemisahan</a:t>
            </a:r>
            <a:r>
              <a:rPr dirty="0"/>
              <a:t> </a:t>
            </a:r>
            <a:r>
              <a:rPr dirty="0" err="1"/>
              <a:t>Sistem</a:t>
            </a:r>
            <a:r>
              <a:rPr dirty="0"/>
              <a:t> </a:t>
            </a:r>
            <a:r>
              <a:rPr dirty="0" err="1"/>
              <a:t>Operasional</a:t>
            </a:r>
            <a:r>
              <a:rPr dirty="0"/>
              <a:t> dan </a:t>
            </a:r>
            <a:r>
              <a:rPr dirty="0" err="1"/>
              <a:t>Sistem</a:t>
            </a:r>
            <a:r>
              <a:rPr dirty="0"/>
              <a:t> </a:t>
            </a:r>
            <a:r>
              <a:rPr dirty="0" err="1"/>
              <a:t>Informasi</a:t>
            </a:r>
            <a:r>
              <a:rPr dirty="0"/>
              <a:t>: </a:t>
            </a:r>
            <a:r>
              <a:rPr dirty="0" err="1"/>
              <a:t>Mengurangi</a:t>
            </a:r>
            <a:r>
              <a:rPr dirty="0"/>
              <a:t> </a:t>
            </a:r>
            <a:r>
              <a:rPr dirty="0" err="1"/>
              <a:t>beban</a:t>
            </a:r>
            <a:r>
              <a:rPr dirty="0"/>
              <a:t> </a:t>
            </a:r>
            <a:r>
              <a:rPr dirty="0" err="1"/>
              <a:t>kerja</a:t>
            </a:r>
            <a:r>
              <a:rPr dirty="0"/>
              <a:t> </a:t>
            </a:r>
            <a:r>
              <a:rPr dirty="0" err="1"/>
              <a:t>sistem</a:t>
            </a:r>
            <a:r>
              <a:rPr dirty="0"/>
              <a:t> </a:t>
            </a:r>
            <a:r>
              <a:rPr dirty="0" err="1"/>
              <a:t>operasional</a:t>
            </a:r>
            <a:r>
              <a:rPr dirty="0"/>
              <a:t> dan </a:t>
            </a:r>
            <a:r>
              <a:rPr dirty="0" err="1"/>
              <a:t>meningkatkan</a:t>
            </a:r>
            <a:r>
              <a:rPr dirty="0"/>
              <a:t> </a:t>
            </a:r>
            <a:r>
              <a:rPr dirty="0" err="1"/>
              <a:t>efisiensi</a:t>
            </a:r>
            <a:r>
              <a:rPr dirty="0"/>
              <a:t> </a:t>
            </a:r>
            <a:r>
              <a:rPr dirty="0" err="1"/>
              <a:t>analisis</a:t>
            </a:r>
            <a:r>
              <a:rPr dirty="0"/>
              <a:t> data.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Tantangan dalam Implementasi Data Warehouse</a:t>
            </a:r>
          </a:p>
        </p:txBody>
      </p:sp>
      <p:sp>
        <p:nvSpPr>
          <p:cNvPr id="3" name="Content Placeholder 2"/>
          <p:cNvSpPr>
            <a:spLocks noGrp="1"/>
          </p:cNvSpPr>
          <p:nvPr>
            <p:ph idx="1"/>
          </p:nvPr>
        </p:nvSpPr>
        <p:spPr/>
        <p:txBody>
          <a:bodyPr/>
          <a:lstStyle/>
          <a:p>
            <a:pPr marL="457200" indent="-457200">
              <a:buFont typeface="Arial" panose="020B0604020202020204" pitchFamily="34" charset="0"/>
              <a:buChar char="•"/>
            </a:pPr>
            <a:r>
              <a:rPr lang="en-ID" dirty="0"/>
              <a:t> </a:t>
            </a:r>
            <a:r>
              <a:rPr dirty="0" err="1"/>
              <a:t>Struktur</a:t>
            </a:r>
            <a:r>
              <a:rPr dirty="0"/>
              <a:t> </a:t>
            </a:r>
            <a:r>
              <a:rPr dirty="0" err="1"/>
              <a:t>Kunci</a:t>
            </a:r>
            <a:r>
              <a:rPr dirty="0"/>
              <a:t> </a:t>
            </a:r>
            <a:r>
              <a:rPr dirty="0" err="1"/>
              <a:t>Tidak</a:t>
            </a:r>
            <a:r>
              <a:rPr dirty="0"/>
              <a:t> </a:t>
            </a:r>
            <a:r>
              <a:rPr dirty="0" err="1"/>
              <a:t>Konsisten</a:t>
            </a:r>
            <a:r>
              <a:rPr dirty="0"/>
              <a:t>: </a:t>
            </a:r>
            <a:r>
              <a:rPr dirty="0" err="1"/>
              <a:t>Setiap</a:t>
            </a:r>
            <a:r>
              <a:rPr dirty="0"/>
              <a:t> </a:t>
            </a:r>
            <a:r>
              <a:rPr dirty="0" err="1"/>
              <a:t>sistem</a:t>
            </a:r>
            <a:r>
              <a:rPr dirty="0"/>
              <a:t> </a:t>
            </a:r>
            <a:r>
              <a:rPr dirty="0" err="1"/>
              <a:t>memiliki</a:t>
            </a:r>
            <a:r>
              <a:rPr dirty="0"/>
              <a:t> format data yang </a:t>
            </a:r>
            <a:r>
              <a:rPr dirty="0" err="1"/>
              <a:t>berbeda</a:t>
            </a:r>
            <a:r>
              <a:rPr dirty="0"/>
              <a:t>.</a:t>
            </a:r>
          </a:p>
          <a:p>
            <a:pPr marL="457200" indent="-457200">
              <a:buFont typeface="Arial" panose="020B0604020202020204" pitchFamily="34" charset="0"/>
              <a:buChar char="•"/>
            </a:pPr>
            <a:r>
              <a:rPr lang="en-ID" dirty="0"/>
              <a:t> </a:t>
            </a:r>
            <a:r>
              <a:rPr dirty="0" err="1"/>
              <a:t>Penggunaan</a:t>
            </a:r>
            <a:r>
              <a:rPr dirty="0"/>
              <a:t> </a:t>
            </a:r>
            <a:r>
              <a:rPr dirty="0" err="1"/>
              <a:t>Sinonim</a:t>
            </a:r>
            <a:r>
              <a:rPr dirty="0"/>
              <a:t> </a:t>
            </a:r>
            <a:r>
              <a:rPr dirty="0" err="1"/>
              <a:t>dalam</a:t>
            </a:r>
            <a:r>
              <a:rPr dirty="0"/>
              <a:t> Data: Nama </a:t>
            </a:r>
            <a:r>
              <a:rPr dirty="0" err="1"/>
              <a:t>variabel</a:t>
            </a:r>
            <a:r>
              <a:rPr dirty="0"/>
              <a:t> yang </a:t>
            </a:r>
            <a:r>
              <a:rPr dirty="0" err="1"/>
              <a:t>berbeda</a:t>
            </a:r>
            <a:r>
              <a:rPr dirty="0"/>
              <a:t> </a:t>
            </a:r>
            <a:r>
              <a:rPr dirty="0" err="1"/>
              <a:t>untuk</a:t>
            </a:r>
            <a:r>
              <a:rPr dirty="0"/>
              <a:t> data yang </a:t>
            </a:r>
            <a:r>
              <a:rPr dirty="0" err="1"/>
              <a:t>sama</a:t>
            </a:r>
            <a:r>
              <a:rPr dirty="0"/>
              <a:t>.</a:t>
            </a:r>
          </a:p>
          <a:p>
            <a:pPr marL="457200" indent="-457200">
              <a:buFont typeface="Arial" panose="020B0604020202020204" pitchFamily="34" charset="0"/>
              <a:buChar char="•"/>
            </a:pPr>
            <a:r>
              <a:rPr lang="en-ID" dirty="0"/>
              <a:t> </a:t>
            </a:r>
            <a:r>
              <a:rPr dirty="0"/>
              <a:t>Data </a:t>
            </a:r>
            <a:r>
              <a:rPr dirty="0" err="1"/>
              <a:t>Tidak</a:t>
            </a:r>
            <a:r>
              <a:rPr dirty="0"/>
              <a:t> </a:t>
            </a:r>
            <a:r>
              <a:rPr dirty="0" err="1"/>
              <a:t>Lengkap</a:t>
            </a:r>
            <a:r>
              <a:rPr dirty="0"/>
              <a:t> </a:t>
            </a:r>
            <a:r>
              <a:rPr dirty="0" err="1"/>
              <a:t>atau</a:t>
            </a:r>
            <a:r>
              <a:rPr dirty="0"/>
              <a:t> </a:t>
            </a:r>
            <a:r>
              <a:rPr dirty="0" err="1"/>
              <a:t>Tidak</a:t>
            </a:r>
            <a:r>
              <a:rPr dirty="0"/>
              <a:t> </a:t>
            </a:r>
            <a:r>
              <a:rPr dirty="0" err="1"/>
              <a:t>Terstruktur</a:t>
            </a:r>
            <a:r>
              <a:rPr dirty="0"/>
              <a:t>: Data </a:t>
            </a:r>
            <a:r>
              <a:rPr dirty="0" err="1"/>
              <a:t>perlu</a:t>
            </a:r>
            <a:r>
              <a:rPr dirty="0"/>
              <a:t> </a:t>
            </a:r>
            <a:r>
              <a:rPr dirty="0" err="1"/>
              <a:t>diproses</a:t>
            </a:r>
            <a:r>
              <a:rPr dirty="0"/>
              <a:t> dan </a:t>
            </a:r>
            <a:r>
              <a:rPr dirty="0" err="1"/>
              <a:t>diselaraskan</a:t>
            </a:r>
            <a:r>
              <a:rPr dirty="0"/>
              <a:t> </a:t>
            </a:r>
            <a:r>
              <a:rPr dirty="0" err="1"/>
              <a:t>sebelum</a:t>
            </a:r>
            <a:r>
              <a:rPr dirty="0"/>
              <a:t> </a:t>
            </a:r>
            <a:r>
              <a:rPr dirty="0" err="1"/>
              <a:t>dianalisis</a:t>
            </a:r>
            <a:r>
              <a:rPr dirty="0"/>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Tren Organisasi dalam Pemanfaatan Data Warehouse</a:t>
            </a:r>
          </a:p>
        </p:txBody>
      </p:sp>
      <p:sp>
        <p:nvSpPr>
          <p:cNvPr id="3" name="Content Placeholder 2"/>
          <p:cNvSpPr>
            <a:spLocks noGrp="1"/>
          </p:cNvSpPr>
          <p:nvPr>
            <p:ph idx="1"/>
          </p:nvPr>
        </p:nvSpPr>
        <p:spPr/>
        <p:txBody>
          <a:bodyPr/>
          <a:lstStyle/>
          <a:p>
            <a:r>
              <a:rPr lang="en-ID" dirty="0"/>
              <a:t> </a:t>
            </a:r>
            <a:r>
              <a:rPr dirty="0" err="1"/>
              <a:t>Analisis</a:t>
            </a:r>
            <a:r>
              <a:rPr dirty="0"/>
              <a:t> </a:t>
            </a:r>
            <a:r>
              <a:rPr dirty="0" err="1"/>
              <a:t>Aktivitas</a:t>
            </a:r>
            <a:r>
              <a:rPr dirty="0"/>
              <a:t> </a:t>
            </a:r>
            <a:r>
              <a:rPr dirty="0" err="1"/>
              <a:t>Bisnis</a:t>
            </a:r>
            <a:r>
              <a:rPr dirty="0"/>
              <a:t> yang </a:t>
            </a:r>
            <a:r>
              <a:rPr dirty="0" err="1"/>
              <a:t>Seimbang</a:t>
            </a:r>
            <a:r>
              <a:rPr dirty="0"/>
              <a:t>: </a:t>
            </a:r>
            <a:r>
              <a:rPr dirty="0" err="1"/>
              <a:t>Memungkinkan</a:t>
            </a:r>
            <a:r>
              <a:rPr dirty="0"/>
              <a:t> </a:t>
            </a:r>
            <a:r>
              <a:rPr dirty="0" err="1"/>
              <a:t>organisasi</a:t>
            </a:r>
            <a:r>
              <a:rPr dirty="0"/>
              <a:t> </a:t>
            </a:r>
            <a:r>
              <a:rPr dirty="0" err="1"/>
              <a:t>memahami</a:t>
            </a:r>
            <a:r>
              <a:rPr dirty="0"/>
              <a:t> </a:t>
            </a:r>
            <a:r>
              <a:rPr dirty="0" err="1"/>
              <a:t>performa</a:t>
            </a:r>
            <a:r>
              <a:rPr dirty="0"/>
              <a:t> </a:t>
            </a:r>
            <a:r>
              <a:rPr dirty="0" err="1"/>
              <a:t>mereka</a:t>
            </a:r>
            <a:r>
              <a:rPr dirty="0"/>
              <a:t> </a:t>
            </a:r>
            <a:r>
              <a:rPr dirty="0" err="1"/>
              <a:t>lebih</a:t>
            </a:r>
            <a:r>
              <a:rPr dirty="0"/>
              <a:t> </a:t>
            </a:r>
            <a:r>
              <a:rPr dirty="0" err="1"/>
              <a:t>baik</a:t>
            </a:r>
            <a:r>
              <a:rPr dirty="0"/>
              <a:t>.</a:t>
            </a:r>
          </a:p>
          <a:p>
            <a:r>
              <a:rPr lang="en-ID" dirty="0"/>
              <a:t> </a:t>
            </a:r>
            <a:r>
              <a:rPr dirty="0"/>
              <a:t>CRM (Customer Relationship Management) dan SRM (Supplier Relationship Management) </a:t>
            </a:r>
            <a:r>
              <a:rPr dirty="0" err="1"/>
              <a:t>membantu</a:t>
            </a:r>
            <a:r>
              <a:rPr dirty="0"/>
              <a:t> </a:t>
            </a:r>
            <a:r>
              <a:rPr dirty="0" err="1"/>
              <a:t>meningkatkan</a:t>
            </a:r>
            <a:r>
              <a:rPr dirty="0"/>
              <a:t> </a:t>
            </a:r>
            <a:r>
              <a:rPr dirty="0" err="1"/>
              <a:t>layanan</a:t>
            </a:r>
            <a:r>
              <a:rPr dirty="0"/>
              <a:t> </a:t>
            </a:r>
            <a:r>
              <a:rPr dirty="0" err="1"/>
              <a:t>pelanggan</a:t>
            </a:r>
            <a:r>
              <a:rPr dirty="0"/>
              <a:t> dan </a:t>
            </a:r>
            <a:r>
              <a:rPr dirty="0" err="1"/>
              <a:t>efisiensi</a:t>
            </a:r>
            <a:r>
              <a:rPr dirty="0"/>
              <a:t> </a:t>
            </a:r>
            <a:r>
              <a:rPr dirty="0" err="1"/>
              <a:t>rantai</a:t>
            </a:r>
            <a:r>
              <a:rPr dirty="0"/>
              <a:t> </a:t>
            </a:r>
            <a:r>
              <a:rPr dirty="0" err="1"/>
              <a:t>pasok</a:t>
            </a:r>
            <a:r>
              <a:rPr dirty="0"/>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Perbedaan Sistem Operasional vs Sistem Informasi</a:t>
            </a:r>
          </a:p>
        </p:txBody>
      </p:sp>
      <p:sp>
        <p:nvSpPr>
          <p:cNvPr id="3" name="Content Placeholder 2"/>
          <p:cNvSpPr>
            <a:spLocks noGrp="1"/>
          </p:cNvSpPr>
          <p:nvPr>
            <p:ph idx="1"/>
          </p:nvPr>
        </p:nvSpPr>
        <p:spPr/>
        <p:txBody>
          <a:bodyPr>
            <a:normAutofit lnSpcReduction="10000"/>
          </a:bodyPr>
          <a:lstStyle/>
          <a:p>
            <a:r>
              <a:rPr lang="en-ID" dirty="0"/>
              <a:t> </a:t>
            </a:r>
            <a:r>
              <a:rPr dirty="0" err="1"/>
              <a:t>Sistem</a:t>
            </a:r>
            <a:r>
              <a:rPr dirty="0"/>
              <a:t> </a:t>
            </a:r>
            <a:r>
              <a:rPr dirty="0" err="1"/>
              <a:t>Operasional</a:t>
            </a:r>
            <a:r>
              <a:rPr dirty="0"/>
              <a:t>:</a:t>
            </a:r>
          </a:p>
          <a:p>
            <a:r>
              <a:rPr dirty="0"/>
              <a:t>  </a:t>
            </a:r>
            <a:r>
              <a:rPr lang="en-ID" dirty="0"/>
              <a:t> </a:t>
            </a:r>
            <a:r>
              <a:rPr dirty="0" err="1"/>
              <a:t>Digunakan</a:t>
            </a:r>
            <a:r>
              <a:rPr dirty="0"/>
              <a:t> </a:t>
            </a:r>
            <a:r>
              <a:rPr dirty="0" err="1"/>
              <a:t>untuk</a:t>
            </a:r>
            <a:r>
              <a:rPr dirty="0"/>
              <a:t> </a:t>
            </a:r>
            <a:r>
              <a:rPr dirty="0" err="1"/>
              <a:t>operasi</a:t>
            </a:r>
            <a:r>
              <a:rPr dirty="0"/>
              <a:t> </a:t>
            </a:r>
            <a:r>
              <a:rPr dirty="0" err="1"/>
              <a:t>bisnis</a:t>
            </a:r>
            <a:r>
              <a:rPr dirty="0"/>
              <a:t> </a:t>
            </a:r>
            <a:r>
              <a:rPr dirty="0" err="1"/>
              <a:t>harian</a:t>
            </a:r>
            <a:r>
              <a:rPr dirty="0"/>
              <a:t>.</a:t>
            </a:r>
          </a:p>
          <a:p>
            <a:r>
              <a:rPr dirty="0"/>
              <a:t>  </a:t>
            </a:r>
            <a:r>
              <a:rPr lang="en-ID" dirty="0"/>
              <a:t> </a:t>
            </a:r>
            <a:r>
              <a:rPr dirty="0" err="1"/>
              <a:t>Berisi</a:t>
            </a:r>
            <a:r>
              <a:rPr dirty="0"/>
              <a:t> data </a:t>
            </a:r>
            <a:r>
              <a:rPr dirty="0" err="1"/>
              <a:t>terbaru</a:t>
            </a:r>
            <a:r>
              <a:rPr dirty="0"/>
              <a:t> dan </a:t>
            </a:r>
            <a:r>
              <a:rPr dirty="0" err="1"/>
              <a:t>digunakan</a:t>
            </a:r>
            <a:r>
              <a:rPr dirty="0"/>
              <a:t> </a:t>
            </a:r>
            <a:r>
              <a:rPr dirty="0" err="1"/>
              <a:t>untuk</a:t>
            </a:r>
            <a:r>
              <a:rPr dirty="0"/>
              <a:t> </a:t>
            </a:r>
            <a:r>
              <a:rPr dirty="0" err="1"/>
              <a:t>transaksi</a:t>
            </a:r>
            <a:r>
              <a:rPr dirty="0"/>
              <a:t> real-time.</a:t>
            </a:r>
          </a:p>
          <a:p>
            <a:endParaRPr dirty="0"/>
          </a:p>
          <a:p>
            <a:r>
              <a:rPr lang="en-ID" dirty="0"/>
              <a:t> </a:t>
            </a:r>
            <a:r>
              <a:rPr dirty="0" err="1"/>
              <a:t>Sistem</a:t>
            </a:r>
            <a:r>
              <a:rPr dirty="0"/>
              <a:t> </a:t>
            </a:r>
            <a:r>
              <a:rPr dirty="0" err="1"/>
              <a:t>Informasi</a:t>
            </a:r>
            <a:r>
              <a:rPr dirty="0"/>
              <a:t>:</a:t>
            </a:r>
          </a:p>
          <a:p>
            <a:r>
              <a:rPr dirty="0"/>
              <a:t>  </a:t>
            </a:r>
            <a:r>
              <a:rPr lang="en-ID" dirty="0"/>
              <a:t> </a:t>
            </a:r>
            <a:r>
              <a:rPr dirty="0" err="1"/>
              <a:t>Digunakan</a:t>
            </a:r>
            <a:r>
              <a:rPr dirty="0"/>
              <a:t> </a:t>
            </a:r>
            <a:r>
              <a:rPr dirty="0" err="1"/>
              <a:t>untuk</a:t>
            </a:r>
            <a:r>
              <a:rPr dirty="0"/>
              <a:t> </a:t>
            </a:r>
            <a:r>
              <a:rPr dirty="0" err="1"/>
              <a:t>analisis</a:t>
            </a:r>
            <a:r>
              <a:rPr dirty="0"/>
              <a:t> data </a:t>
            </a:r>
            <a:r>
              <a:rPr dirty="0" err="1"/>
              <a:t>historis</a:t>
            </a:r>
            <a:r>
              <a:rPr dirty="0"/>
              <a:t>.</a:t>
            </a:r>
          </a:p>
          <a:p>
            <a:r>
              <a:rPr dirty="0"/>
              <a:t>  </a:t>
            </a:r>
            <a:r>
              <a:rPr lang="en-ID" dirty="0"/>
              <a:t> </a:t>
            </a:r>
            <a:r>
              <a:rPr dirty="0" err="1"/>
              <a:t>Membantu</a:t>
            </a:r>
            <a:r>
              <a:rPr dirty="0"/>
              <a:t> </a:t>
            </a:r>
            <a:r>
              <a:rPr dirty="0" err="1"/>
              <a:t>dalam</a:t>
            </a:r>
            <a:r>
              <a:rPr dirty="0"/>
              <a:t> </a:t>
            </a:r>
            <a:r>
              <a:rPr dirty="0" err="1"/>
              <a:t>pengambilan</a:t>
            </a:r>
            <a:r>
              <a:rPr dirty="0"/>
              <a:t> </a:t>
            </a:r>
            <a:r>
              <a:rPr dirty="0" err="1"/>
              <a:t>keputusan</a:t>
            </a:r>
            <a:r>
              <a:rPr dirty="0"/>
              <a:t> </a:t>
            </a:r>
            <a:r>
              <a:rPr dirty="0" err="1"/>
              <a:t>strategis</a:t>
            </a:r>
            <a:r>
              <a:rPr dirty="0"/>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BA7DC-E696-DCE1-7CD8-64738DA47E5E}"/>
              </a:ext>
            </a:extLst>
          </p:cNvPr>
          <p:cNvSpPr>
            <a:spLocks noGrp="1"/>
          </p:cNvSpPr>
          <p:nvPr>
            <p:ph type="title"/>
          </p:nvPr>
        </p:nvSpPr>
        <p:spPr/>
        <p:txBody>
          <a:bodyPr/>
          <a:lstStyle/>
          <a:p>
            <a:endParaRPr lang="en-ID" dirty="0"/>
          </a:p>
        </p:txBody>
      </p:sp>
      <p:graphicFrame>
        <p:nvGraphicFramePr>
          <p:cNvPr id="4" name="Content Placeholder 3">
            <a:extLst>
              <a:ext uri="{FF2B5EF4-FFF2-40B4-BE49-F238E27FC236}">
                <a16:creationId xmlns:a16="http://schemas.microsoft.com/office/drawing/2014/main" id="{6F5D8031-8A58-31BB-10DA-EFD0CEE26EEE}"/>
              </a:ext>
            </a:extLst>
          </p:cNvPr>
          <p:cNvGraphicFramePr>
            <a:graphicFrameLocks noGrp="1"/>
          </p:cNvGraphicFramePr>
          <p:nvPr>
            <p:ph idx="1"/>
            <p:extLst>
              <p:ext uri="{D42A27DB-BD31-4B8C-83A1-F6EECF244321}">
                <p14:modId xmlns:p14="http://schemas.microsoft.com/office/powerpoint/2010/main" val="1020882351"/>
              </p:ext>
            </p:extLst>
          </p:nvPr>
        </p:nvGraphicFramePr>
        <p:xfrm>
          <a:off x="555959" y="1066507"/>
          <a:ext cx="11071182" cy="4319225"/>
        </p:xfrm>
        <a:graphic>
          <a:graphicData uri="http://schemas.openxmlformats.org/drawingml/2006/table">
            <a:tbl>
              <a:tblPr>
                <a:tableStyleId>{5C22544A-7EE6-4342-B048-85BDC9FD1C3A}</a:tableStyleId>
              </a:tblPr>
              <a:tblGrid>
                <a:gridCol w="1658735">
                  <a:extLst>
                    <a:ext uri="{9D8B030D-6E8A-4147-A177-3AD203B41FA5}">
                      <a16:colId xmlns:a16="http://schemas.microsoft.com/office/drawing/2014/main" val="1186746364"/>
                    </a:ext>
                  </a:extLst>
                </a:gridCol>
                <a:gridCol w="4932726">
                  <a:extLst>
                    <a:ext uri="{9D8B030D-6E8A-4147-A177-3AD203B41FA5}">
                      <a16:colId xmlns:a16="http://schemas.microsoft.com/office/drawing/2014/main" val="790594255"/>
                    </a:ext>
                  </a:extLst>
                </a:gridCol>
                <a:gridCol w="4479721">
                  <a:extLst>
                    <a:ext uri="{9D8B030D-6E8A-4147-A177-3AD203B41FA5}">
                      <a16:colId xmlns:a16="http://schemas.microsoft.com/office/drawing/2014/main" val="2038785147"/>
                    </a:ext>
                  </a:extLst>
                </a:gridCol>
              </a:tblGrid>
              <a:tr h="375585">
                <a:tc>
                  <a:txBody>
                    <a:bodyPr/>
                    <a:lstStyle/>
                    <a:p>
                      <a:pPr algn="ctr" fontAlgn="t"/>
                      <a:r>
                        <a:rPr lang="en-ID" sz="1400" u="none" strike="noStrike" dirty="0" err="1">
                          <a:effectLst/>
                        </a:rPr>
                        <a:t>Aspek</a:t>
                      </a:r>
                      <a:endParaRPr lang="en-ID" sz="1400" b="1" i="0" u="none" strike="noStrike" dirty="0">
                        <a:solidFill>
                          <a:srgbClr val="000000"/>
                        </a:solidFill>
                        <a:effectLst/>
                        <a:latin typeface="Calibri" panose="020F0502020204030204" pitchFamily="34" charset="0"/>
                      </a:endParaRPr>
                    </a:p>
                  </a:txBody>
                  <a:tcPr marL="5048" marR="5048" marT="5048" marB="0"/>
                </a:tc>
                <a:tc>
                  <a:txBody>
                    <a:bodyPr/>
                    <a:lstStyle/>
                    <a:p>
                      <a:pPr algn="ctr" fontAlgn="t"/>
                      <a:r>
                        <a:rPr lang="en-ID" sz="1400" u="none" strike="noStrike">
                          <a:effectLst/>
                        </a:rPr>
                        <a:t>OLAP (Online Analytical Processing)</a:t>
                      </a:r>
                      <a:endParaRPr lang="en-ID" sz="1400" b="1" i="0" u="none" strike="noStrike">
                        <a:solidFill>
                          <a:srgbClr val="000000"/>
                        </a:solidFill>
                        <a:effectLst/>
                        <a:latin typeface="Calibri" panose="020F0502020204030204" pitchFamily="34" charset="0"/>
                      </a:endParaRPr>
                    </a:p>
                  </a:txBody>
                  <a:tcPr marL="5048" marR="5048" marT="5048" marB="0"/>
                </a:tc>
                <a:tc>
                  <a:txBody>
                    <a:bodyPr/>
                    <a:lstStyle/>
                    <a:p>
                      <a:pPr algn="ctr" fontAlgn="t"/>
                      <a:r>
                        <a:rPr lang="en-ID" sz="1400" u="none" strike="noStrike">
                          <a:effectLst/>
                        </a:rPr>
                        <a:t>OLTP (Online Transaction Processing)</a:t>
                      </a:r>
                      <a:endParaRPr lang="en-ID" sz="1400" b="1" i="0" u="none" strike="noStrike">
                        <a:solidFill>
                          <a:srgbClr val="000000"/>
                        </a:solidFill>
                        <a:effectLst/>
                        <a:latin typeface="Calibri" panose="020F0502020204030204" pitchFamily="34" charset="0"/>
                      </a:endParaRPr>
                    </a:p>
                  </a:txBody>
                  <a:tcPr marL="5048" marR="5048" marT="5048" marB="0"/>
                </a:tc>
                <a:extLst>
                  <a:ext uri="{0D108BD9-81ED-4DB2-BD59-A6C34878D82A}">
                    <a16:rowId xmlns:a16="http://schemas.microsoft.com/office/drawing/2014/main" val="230810268"/>
                  </a:ext>
                </a:extLst>
              </a:tr>
              <a:tr h="563377">
                <a:tc>
                  <a:txBody>
                    <a:bodyPr/>
                    <a:lstStyle/>
                    <a:p>
                      <a:pPr algn="l" fontAlgn="t"/>
                      <a:r>
                        <a:rPr lang="en-ID" sz="1400" u="none" strike="noStrike">
                          <a:effectLst/>
                        </a:rPr>
                        <a:t>Tujuan</a:t>
                      </a:r>
                      <a:endParaRPr lang="en-ID" sz="1400" b="1" i="0" u="none" strike="noStrike">
                        <a:solidFill>
                          <a:srgbClr val="000000"/>
                        </a:solidFill>
                        <a:effectLst/>
                        <a:latin typeface="Calibri" panose="020F0502020204030204" pitchFamily="34" charset="0"/>
                      </a:endParaRPr>
                    </a:p>
                  </a:txBody>
                  <a:tcPr marL="5048" marR="5048" marT="5048" marB="0"/>
                </a:tc>
                <a:tc>
                  <a:txBody>
                    <a:bodyPr/>
                    <a:lstStyle/>
                    <a:p>
                      <a:pPr algn="l" fontAlgn="t"/>
                      <a:r>
                        <a:rPr lang="en-ID" sz="1400" u="none" strike="noStrike">
                          <a:effectLst/>
                        </a:rPr>
                        <a:t>Digunakan untuk analisis data dan pengambilan keputusan bisnis</a:t>
                      </a:r>
                      <a:endParaRPr lang="en-ID" sz="1400" b="0" i="0" u="none" strike="noStrike">
                        <a:solidFill>
                          <a:srgbClr val="000000"/>
                        </a:solidFill>
                        <a:effectLst/>
                        <a:latin typeface="Calibri" panose="020F0502020204030204" pitchFamily="34" charset="0"/>
                      </a:endParaRPr>
                    </a:p>
                  </a:txBody>
                  <a:tcPr marL="5048" marR="5048" marT="5048" marB="0"/>
                </a:tc>
                <a:tc>
                  <a:txBody>
                    <a:bodyPr/>
                    <a:lstStyle/>
                    <a:p>
                      <a:pPr algn="l" fontAlgn="t"/>
                      <a:r>
                        <a:rPr lang="en-ID" sz="1400" u="none" strike="noStrike">
                          <a:effectLst/>
                        </a:rPr>
                        <a:t>Digunakan untuk pemrosesan transaksi harian secara cepat dan akurat</a:t>
                      </a:r>
                      <a:endParaRPr lang="en-ID" sz="1400" b="0" i="0" u="none" strike="noStrike">
                        <a:solidFill>
                          <a:srgbClr val="000000"/>
                        </a:solidFill>
                        <a:effectLst/>
                        <a:latin typeface="Calibri" panose="020F0502020204030204" pitchFamily="34" charset="0"/>
                      </a:endParaRPr>
                    </a:p>
                  </a:txBody>
                  <a:tcPr marL="5048" marR="5048" marT="5048" marB="0"/>
                </a:tc>
                <a:extLst>
                  <a:ext uri="{0D108BD9-81ED-4DB2-BD59-A6C34878D82A}">
                    <a16:rowId xmlns:a16="http://schemas.microsoft.com/office/drawing/2014/main" val="1530311373"/>
                  </a:ext>
                </a:extLst>
              </a:tr>
              <a:tr h="375585">
                <a:tc>
                  <a:txBody>
                    <a:bodyPr/>
                    <a:lstStyle/>
                    <a:p>
                      <a:pPr algn="l" fontAlgn="t"/>
                      <a:r>
                        <a:rPr lang="en-ID" sz="1400" u="none" strike="noStrike">
                          <a:effectLst/>
                        </a:rPr>
                        <a:t>Jenis Data</a:t>
                      </a:r>
                      <a:endParaRPr lang="en-ID" sz="1400" b="1" i="0" u="none" strike="noStrike">
                        <a:solidFill>
                          <a:srgbClr val="000000"/>
                        </a:solidFill>
                        <a:effectLst/>
                        <a:latin typeface="Calibri" panose="020F0502020204030204" pitchFamily="34" charset="0"/>
                      </a:endParaRPr>
                    </a:p>
                  </a:txBody>
                  <a:tcPr marL="5048" marR="5048" marT="5048" marB="0"/>
                </a:tc>
                <a:tc>
                  <a:txBody>
                    <a:bodyPr/>
                    <a:lstStyle/>
                    <a:p>
                      <a:pPr algn="l" fontAlgn="t"/>
                      <a:r>
                        <a:rPr lang="en-ID" sz="1400" u="none" strike="noStrike">
                          <a:effectLst/>
                        </a:rPr>
                        <a:t>Data historis dan teragregasi</a:t>
                      </a:r>
                      <a:endParaRPr lang="en-ID" sz="1400" b="0" i="0" u="none" strike="noStrike">
                        <a:solidFill>
                          <a:srgbClr val="000000"/>
                        </a:solidFill>
                        <a:effectLst/>
                        <a:latin typeface="Calibri" panose="020F0502020204030204" pitchFamily="34" charset="0"/>
                      </a:endParaRPr>
                    </a:p>
                  </a:txBody>
                  <a:tcPr marL="5048" marR="5048" marT="5048" marB="0"/>
                </a:tc>
                <a:tc>
                  <a:txBody>
                    <a:bodyPr/>
                    <a:lstStyle/>
                    <a:p>
                      <a:pPr algn="l" fontAlgn="t"/>
                      <a:r>
                        <a:rPr lang="en-US" sz="1400" u="none" strike="noStrike">
                          <a:effectLst/>
                        </a:rPr>
                        <a:t>Data operasional yang bersifat real-time</a:t>
                      </a:r>
                      <a:endParaRPr lang="en-US" sz="1400" b="0" i="0" u="none" strike="noStrike">
                        <a:solidFill>
                          <a:srgbClr val="000000"/>
                        </a:solidFill>
                        <a:effectLst/>
                        <a:latin typeface="Calibri" panose="020F0502020204030204" pitchFamily="34" charset="0"/>
                      </a:endParaRPr>
                    </a:p>
                  </a:txBody>
                  <a:tcPr marL="5048" marR="5048" marT="5048" marB="0"/>
                </a:tc>
                <a:extLst>
                  <a:ext uri="{0D108BD9-81ED-4DB2-BD59-A6C34878D82A}">
                    <a16:rowId xmlns:a16="http://schemas.microsoft.com/office/drawing/2014/main" val="434071929"/>
                  </a:ext>
                </a:extLst>
              </a:tr>
              <a:tr h="563377">
                <a:tc>
                  <a:txBody>
                    <a:bodyPr/>
                    <a:lstStyle/>
                    <a:p>
                      <a:pPr algn="l" fontAlgn="t"/>
                      <a:r>
                        <a:rPr lang="en-ID" sz="1400" u="none" strike="noStrike">
                          <a:effectLst/>
                        </a:rPr>
                        <a:t>Struktur Data</a:t>
                      </a:r>
                      <a:endParaRPr lang="en-ID" sz="1400" b="1" i="0" u="none" strike="noStrike">
                        <a:solidFill>
                          <a:srgbClr val="000000"/>
                        </a:solidFill>
                        <a:effectLst/>
                        <a:latin typeface="Calibri" panose="020F0502020204030204" pitchFamily="34" charset="0"/>
                      </a:endParaRPr>
                    </a:p>
                  </a:txBody>
                  <a:tcPr marL="5048" marR="5048" marT="5048" marB="0"/>
                </a:tc>
                <a:tc>
                  <a:txBody>
                    <a:bodyPr/>
                    <a:lstStyle/>
                    <a:p>
                      <a:pPr algn="l" fontAlgn="t"/>
                      <a:r>
                        <a:rPr lang="nn-NO" sz="1400" u="none" strike="noStrike">
                          <a:effectLst/>
                        </a:rPr>
                        <a:t>Data warehouse atau data mart dengan skema dimensional (misalnya star schema)</a:t>
                      </a:r>
                      <a:endParaRPr lang="nn-NO" sz="1400" b="0" i="0" u="none" strike="noStrike">
                        <a:solidFill>
                          <a:srgbClr val="000000"/>
                        </a:solidFill>
                        <a:effectLst/>
                        <a:latin typeface="Calibri" panose="020F0502020204030204" pitchFamily="34" charset="0"/>
                      </a:endParaRPr>
                    </a:p>
                  </a:txBody>
                  <a:tcPr marL="5048" marR="5048" marT="5048" marB="0"/>
                </a:tc>
                <a:tc>
                  <a:txBody>
                    <a:bodyPr/>
                    <a:lstStyle/>
                    <a:p>
                      <a:pPr algn="l" fontAlgn="t"/>
                      <a:r>
                        <a:rPr lang="en-ID" sz="1400" u="none" strike="noStrike" dirty="0">
                          <a:effectLst/>
                        </a:rPr>
                        <a:t>Basis data </a:t>
                      </a:r>
                      <a:r>
                        <a:rPr lang="en-ID" sz="1400" u="none" strike="noStrike" dirty="0" err="1">
                          <a:effectLst/>
                        </a:rPr>
                        <a:t>relasional</a:t>
                      </a:r>
                      <a:r>
                        <a:rPr lang="en-ID" sz="1400" u="none" strike="noStrike" dirty="0">
                          <a:effectLst/>
                        </a:rPr>
                        <a:t> </a:t>
                      </a:r>
                      <a:r>
                        <a:rPr lang="en-ID" sz="1400" u="none" strike="noStrike" dirty="0" err="1">
                          <a:effectLst/>
                        </a:rPr>
                        <a:t>dengan</a:t>
                      </a:r>
                      <a:r>
                        <a:rPr lang="en-ID" sz="1400" u="none" strike="noStrike" dirty="0">
                          <a:effectLst/>
                        </a:rPr>
                        <a:t> </a:t>
                      </a:r>
                      <a:r>
                        <a:rPr lang="en-ID" sz="1400" u="none" strike="noStrike" dirty="0" err="1">
                          <a:effectLst/>
                        </a:rPr>
                        <a:t>skema</a:t>
                      </a:r>
                      <a:r>
                        <a:rPr lang="en-ID" sz="1400" u="none" strike="noStrike" dirty="0">
                          <a:effectLst/>
                        </a:rPr>
                        <a:t> </a:t>
                      </a:r>
                      <a:r>
                        <a:rPr lang="en-ID" sz="1400" u="none" strike="noStrike" dirty="0" err="1">
                          <a:effectLst/>
                        </a:rPr>
                        <a:t>normalisasi</a:t>
                      </a:r>
                      <a:r>
                        <a:rPr lang="en-ID" sz="1400" u="none" strike="noStrike" dirty="0">
                          <a:effectLst/>
                        </a:rPr>
                        <a:t> </a:t>
                      </a:r>
                      <a:r>
                        <a:rPr lang="en-ID" sz="1400" u="none" strike="noStrike" dirty="0" err="1">
                          <a:effectLst/>
                        </a:rPr>
                        <a:t>tinggi</a:t>
                      </a:r>
                      <a:r>
                        <a:rPr lang="en-ID" sz="1400" u="none" strike="noStrike" dirty="0">
                          <a:effectLst/>
                        </a:rPr>
                        <a:t> (3NF)</a:t>
                      </a:r>
                      <a:endParaRPr lang="en-ID" sz="1400" b="0" i="0" u="none" strike="noStrike" dirty="0">
                        <a:solidFill>
                          <a:srgbClr val="000000"/>
                        </a:solidFill>
                        <a:effectLst/>
                        <a:latin typeface="Calibri" panose="020F0502020204030204" pitchFamily="34" charset="0"/>
                      </a:endParaRPr>
                    </a:p>
                  </a:txBody>
                  <a:tcPr marL="5048" marR="5048" marT="5048" marB="0"/>
                </a:tc>
                <a:extLst>
                  <a:ext uri="{0D108BD9-81ED-4DB2-BD59-A6C34878D82A}">
                    <a16:rowId xmlns:a16="http://schemas.microsoft.com/office/drawing/2014/main" val="303703812"/>
                  </a:ext>
                </a:extLst>
              </a:tr>
              <a:tr h="375585">
                <a:tc>
                  <a:txBody>
                    <a:bodyPr/>
                    <a:lstStyle/>
                    <a:p>
                      <a:pPr algn="l" fontAlgn="t"/>
                      <a:r>
                        <a:rPr lang="en-ID" sz="1400" u="none" strike="noStrike">
                          <a:effectLst/>
                        </a:rPr>
                        <a:t>Operasi Utama</a:t>
                      </a:r>
                      <a:endParaRPr lang="en-ID" sz="1400" b="1" i="0" u="none" strike="noStrike">
                        <a:solidFill>
                          <a:srgbClr val="000000"/>
                        </a:solidFill>
                        <a:effectLst/>
                        <a:latin typeface="Calibri" panose="020F0502020204030204" pitchFamily="34" charset="0"/>
                      </a:endParaRPr>
                    </a:p>
                  </a:txBody>
                  <a:tcPr marL="5048" marR="5048" marT="5048" marB="0"/>
                </a:tc>
                <a:tc>
                  <a:txBody>
                    <a:bodyPr/>
                    <a:lstStyle/>
                    <a:p>
                      <a:pPr algn="l" fontAlgn="t"/>
                      <a:r>
                        <a:rPr lang="en-US" sz="1400" u="none" strike="noStrike">
                          <a:effectLst/>
                        </a:rPr>
                        <a:t>Query kompleks, agregasi, drill-down, roll-up, slicing, dicing</a:t>
                      </a:r>
                      <a:endParaRPr lang="en-US" sz="1400" b="0" i="0" u="none" strike="noStrike">
                        <a:solidFill>
                          <a:srgbClr val="000000"/>
                        </a:solidFill>
                        <a:effectLst/>
                        <a:latin typeface="Calibri" panose="020F0502020204030204" pitchFamily="34" charset="0"/>
                      </a:endParaRPr>
                    </a:p>
                  </a:txBody>
                  <a:tcPr marL="5048" marR="5048" marT="5048" marB="0"/>
                </a:tc>
                <a:tc>
                  <a:txBody>
                    <a:bodyPr/>
                    <a:lstStyle/>
                    <a:p>
                      <a:pPr algn="l" fontAlgn="t"/>
                      <a:r>
                        <a:rPr lang="en-ID" sz="1400" u="none" strike="noStrike" dirty="0">
                          <a:effectLst/>
                        </a:rPr>
                        <a:t>Insert, update, delete, dan retrieval </a:t>
                      </a:r>
                      <a:r>
                        <a:rPr lang="en-ID" sz="1400" u="none" strike="noStrike" dirty="0" err="1">
                          <a:effectLst/>
                        </a:rPr>
                        <a:t>cepat</a:t>
                      </a:r>
                      <a:endParaRPr lang="en-ID" sz="1400" b="0" i="0" u="none" strike="noStrike" dirty="0">
                        <a:solidFill>
                          <a:srgbClr val="000000"/>
                        </a:solidFill>
                        <a:effectLst/>
                        <a:latin typeface="Calibri" panose="020F0502020204030204" pitchFamily="34" charset="0"/>
                      </a:endParaRPr>
                    </a:p>
                  </a:txBody>
                  <a:tcPr marL="5048" marR="5048" marT="5048" marB="0"/>
                </a:tc>
                <a:extLst>
                  <a:ext uri="{0D108BD9-81ED-4DB2-BD59-A6C34878D82A}">
                    <a16:rowId xmlns:a16="http://schemas.microsoft.com/office/drawing/2014/main" val="3986837705"/>
                  </a:ext>
                </a:extLst>
              </a:tr>
              <a:tr h="563377">
                <a:tc>
                  <a:txBody>
                    <a:bodyPr/>
                    <a:lstStyle/>
                    <a:p>
                      <a:pPr algn="l" fontAlgn="t"/>
                      <a:r>
                        <a:rPr lang="en-ID" sz="1400" u="none" strike="noStrike">
                          <a:effectLst/>
                        </a:rPr>
                        <a:t>Volume Data</a:t>
                      </a:r>
                      <a:endParaRPr lang="en-ID" sz="1400" b="1" i="0" u="none" strike="noStrike">
                        <a:solidFill>
                          <a:srgbClr val="000000"/>
                        </a:solidFill>
                        <a:effectLst/>
                        <a:latin typeface="Calibri" panose="020F0502020204030204" pitchFamily="34" charset="0"/>
                      </a:endParaRPr>
                    </a:p>
                  </a:txBody>
                  <a:tcPr marL="5048" marR="5048" marT="5048" marB="0"/>
                </a:tc>
                <a:tc>
                  <a:txBody>
                    <a:bodyPr/>
                    <a:lstStyle/>
                    <a:p>
                      <a:pPr algn="l" fontAlgn="t"/>
                      <a:r>
                        <a:rPr lang="en-ID" sz="1400" u="none" strike="noStrike">
                          <a:effectLst/>
                        </a:rPr>
                        <a:t>Besar, seringkali dalam ukuran terabyte hingga petabyte</a:t>
                      </a:r>
                      <a:endParaRPr lang="en-ID" sz="1400" b="0" i="0" u="none" strike="noStrike">
                        <a:solidFill>
                          <a:srgbClr val="000000"/>
                        </a:solidFill>
                        <a:effectLst/>
                        <a:latin typeface="Calibri" panose="020F0502020204030204" pitchFamily="34" charset="0"/>
                      </a:endParaRPr>
                    </a:p>
                  </a:txBody>
                  <a:tcPr marL="5048" marR="5048" marT="5048" marB="0"/>
                </a:tc>
                <a:tc>
                  <a:txBody>
                    <a:bodyPr/>
                    <a:lstStyle/>
                    <a:p>
                      <a:pPr algn="l" fontAlgn="t"/>
                      <a:r>
                        <a:rPr lang="en-ID" sz="1400" u="none" strike="noStrike">
                          <a:effectLst/>
                        </a:rPr>
                        <a:t>Relatif kecil dibanding OLAP, biasanya dalam ukuran gigabyte hingga terabyte</a:t>
                      </a:r>
                      <a:endParaRPr lang="en-ID" sz="1400" b="0" i="0" u="none" strike="noStrike">
                        <a:solidFill>
                          <a:srgbClr val="000000"/>
                        </a:solidFill>
                        <a:effectLst/>
                        <a:latin typeface="Calibri" panose="020F0502020204030204" pitchFamily="34" charset="0"/>
                      </a:endParaRPr>
                    </a:p>
                  </a:txBody>
                  <a:tcPr marL="5048" marR="5048" marT="5048" marB="0"/>
                </a:tc>
                <a:extLst>
                  <a:ext uri="{0D108BD9-81ED-4DB2-BD59-A6C34878D82A}">
                    <a16:rowId xmlns:a16="http://schemas.microsoft.com/office/drawing/2014/main" val="1654706465"/>
                  </a:ext>
                </a:extLst>
              </a:tr>
              <a:tr h="375585">
                <a:tc>
                  <a:txBody>
                    <a:bodyPr/>
                    <a:lstStyle/>
                    <a:p>
                      <a:pPr algn="l" fontAlgn="t"/>
                      <a:r>
                        <a:rPr lang="en-ID" sz="1400" u="none" strike="noStrike">
                          <a:effectLst/>
                        </a:rPr>
                        <a:t>Akses Pengguna</a:t>
                      </a:r>
                      <a:endParaRPr lang="en-ID" sz="1400" b="1" i="0" u="none" strike="noStrike">
                        <a:solidFill>
                          <a:srgbClr val="000000"/>
                        </a:solidFill>
                        <a:effectLst/>
                        <a:latin typeface="Calibri" panose="020F0502020204030204" pitchFamily="34" charset="0"/>
                      </a:endParaRPr>
                    </a:p>
                  </a:txBody>
                  <a:tcPr marL="5048" marR="5048" marT="5048" marB="0"/>
                </a:tc>
                <a:tc>
                  <a:txBody>
                    <a:bodyPr/>
                    <a:lstStyle/>
                    <a:p>
                      <a:pPr algn="l" fontAlgn="t"/>
                      <a:r>
                        <a:rPr lang="en-ID" sz="1400" u="none" strike="noStrike">
                          <a:effectLst/>
                        </a:rPr>
                        <a:t>Digunakan oleh manajer, analis bisnis, dan data scientist</a:t>
                      </a:r>
                      <a:endParaRPr lang="en-ID" sz="1400" b="0" i="0" u="none" strike="noStrike">
                        <a:solidFill>
                          <a:srgbClr val="000000"/>
                        </a:solidFill>
                        <a:effectLst/>
                        <a:latin typeface="Calibri" panose="020F0502020204030204" pitchFamily="34" charset="0"/>
                      </a:endParaRPr>
                    </a:p>
                  </a:txBody>
                  <a:tcPr marL="5048" marR="5048" marT="5048" marB="0"/>
                </a:tc>
                <a:tc>
                  <a:txBody>
                    <a:bodyPr/>
                    <a:lstStyle/>
                    <a:p>
                      <a:pPr algn="l" fontAlgn="t"/>
                      <a:r>
                        <a:rPr lang="en-ID" sz="1400" u="none" strike="noStrike" dirty="0" err="1">
                          <a:effectLst/>
                        </a:rPr>
                        <a:t>Digunakan</a:t>
                      </a:r>
                      <a:r>
                        <a:rPr lang="en-ID" sz="1400" u="none" strike="noStrike" dirty="0">
                          <a:effectLst/>
                        </a:rPr>
                        <a:t> oleh </a:t>
                      </a:r>
                      <a:r>
                        <a:rPr lang="en-ID" sz="1400" u="none" strike="noStrike" dirty="0" err="1">
                          <a:effectLst/>
                        </a:rPr>
                        <a:t>pegawai</a:t>
                      </a:r>
                      <a:r>
                        <a:rPr lang="en-ID" sz="1400" u="none" strike="noStrike" dirty="0">
                          <a:effectLst/>
                        </a:rPr>
                        <a:t> </a:t>
                      </a:r>
                      <a:r>
                        <a:rPr lang="en-ID" sz="1400" u="none" strike="noStrike" dirty="0" err="1">
                          <a:effectLst/>
                        </a:rPr>
                        <a:t>operasional</a:t>
                      </a:r>
                      <a:r>
                        <a:rPr lang="en-ID" sz="1400" u="none" strike="noStrike" dirty="0">
                          <a:effectLst/>
                        </a:rPr>
                        <a:t> dan </a:t>
                      </a:r>
                      <a:r>
                        <a:rPr lang="en-ID" sz="1400" u="none" strike="noStrike" dirty="0" err="1">
                          <a:effectLst/>
                        </a:rPr>
                        <a:t>sistem</a:t>
                      </a:r>
                      <a:r>
                        <a:rPr lang="en-ID" sz="1400" u="none" strike="noStrike" dirty="0">
                          <a:effectLst/>
                        </a:rPr>
                        <a:t> </a:t>
                      </a:r>
                      <a:r>
                        <a:rPr lang="en-ID" sz="1400" u="none" strike="noStrike" dirty="0" err="1">
                          <a:effectLst/>
                        </a:rPr>
                        <a:t>otomatis</a:t>
                      </a:r>
                      <a:endParaRPr lang="en-ID" sz="1400" b="0" i="0" u="none" strike="noStrike" dirty="0">
                        <a:solidFill>
                          <a:srgbClr val="000000"/>
                        </a:solidFill>
                        <a:effectLst/>
                        <a:latin typeface="Calibri" panose="020F0502020204030204" pitchFamily="34" charset="0"/>
                      </a:endParaRPr>
                    </a:p>
                  </a:txBody>
                  <a:tcPr marL="5048" marR="5048" marT="5048" marB="0"/>
                </a:tc>
                <a:extLst>
                  <a:ext uri="{0D108BD9-81ED-4DB2-BD59-A6C34878D82A}">
                    <a16:rowId xmlns:a16="http://schemas.microsoft.com/office/drawing/2014/main" val="1369958727"/>
                  </a:ext>
                </a:extLst>
              </a:tr>
              <a:tr h="563377">
                <a:tc>
                  <a:txBody>
                    <a:bodyPr/>
                    <a:lstStyle/>
                    <a:p>
                      <a:pPr algn="l" fontAlgn="t"/>
                      <a:r>
                        <a:rPr lang="en-ID" sz="1400" u="none" strike="noStrike">
                          <a:effectLst/>
                        </a:rPr>
                        <a:t>Kecepatan Query</a:t>
                      </a:r>
                      <a:endParaRPr lang="en-ID" sz="1400" b="1" i="0" u="none" strike="noStrike">
                        <a:solidFill>
                          <a:srgbClr val="000000"/>
                        </a:solidFill>
                        <a:effectLst/>
                        <a:latin typeface="Calibri" panose="020F0502020204030204" pitchFamily="34" charset="0"/>
                      </a:endParaRPr>
                    </a:p>
                  </a:txBody>
                  <a:tcPr marL="5048" marR="5048" marT="5048" marB="0"/>
                </a:tc>
                <a:tc>
                  <a:txBody>
                    <a:bodyPr/>
                    <a:lstStyle/>
                    <a:p>
                      <a:pPr algn="l" fontAlgn="t"/>
                      <a:r>
                        <a:rPr lang="en-ID" sz="1400" u="none" strike="noStrike">
                          <a:effectLst/>
                        </a:rPr>
                        <a:t>Cenderung lebih lambat karena melibatkan pemrosesan data dalam jumlah besar</a:t>
                      </a:r>
                      <a:endParaRPr lang="en-ID" sz="1400" b="0" i="0" u="none" strike="noStrike">
                        <a:solidFill>
                          <a:srgbClr val="000000"/>
                        </a:solidFill>
                        <a:effectLst/>
                        <a:latin typeface="Calibri" panose="020F0502020204030204" pitchFamily="34" charset="0"/>
                      </a:endParaRPr>
                    </a:p>
                  </a:txBody>
                  <a:tcPr marL="5048" marR="5048" marT="5048" marB="0"/>
                </a:tc>
                <a:tc>
                  <a:txBody>
                    <a:bodyPr/>
                    <a:lstStyle/>
                    <a:p>
                      <a:pPr algn="l" fontAlgn="t"/>
                      <a:r>
                        <a:rPr lang="en-ID" sz="1400" u="none" strike="noStrike">
                          <a:effectLst/>
                        </a:rPr>
                        <a:t>Harus cepat untuk menangani banyak transaksi dalam waktu singkat</a:t>
                      </a:r>
                      <a:endParaRPr lang="en-ID" sz="1400" b="0" i="0" u="none" strike="noStrike">
                        <a:solidFill>
                          <a:srgbClr val="000000"/>
                        </a:solidFill>
                        <a:effectLst/>
                        <a:latin typeface="Calibri" panose="020F0502020204030204" pitchFamily="34" charset="0"/>
                      </a:endParaRPr>
                    </a:p>
                  </a:txBody>
                  <a:tcPr marL="5048" marR="5048" marT="5048" marB="0"/>
                </a:tc>
                <a:extLst>
                  <a:ext uri="{0D108BD9-81ED-4DB2-BD59-A6C34878D82A}">
                    <a16:rowId xmlns:a16="http://schemas.microsoft.com/office/drawing/2014/main" val="5918190"/>
                  </a:ext>
                </a:extLst>
              </a:tr>
              <a:tr h="563377">
                <a:tc>
                  <a:txBody>
                    <a:bodyPr/>
                    <a:lstStyle/>
                    <a:p>
                      <a:pPr algn="l" fontAlgn="t"/>
                      <a:r>
                        <a:rPr lang="en-ID" sz="1400" u="none" strike="noStrike">
                          <a:effectLst/>
                        </a:rPr>
                        <a:t>Contoh Penggunaan</a:t>
                      </a:r>
                      <a:endParaRPr lang="en-ID" sz="1400" b="1" i="0" u="none" strike="noStrike">
                        <a:solidFill>
                          <a:srgbClr val="000000"/>
                        </a:solidFill>
                        <a:effectLst/>
                        <a:latin typeface="Calibri" panose="020F0502020204030204" pitchFamily="34" charset="0"/>
                      </a:endParaRPr>
                    </a:p>
                  </a:txBody>
                  <a:tcPr marL="5048" marR="5048" marT="5048" marB="0"/>
                </a:tc>
                <a:tc>
                  <a:txBody>
                    <a:bodyPr/>
                    <a:lstStyle/>
                    <a:p>
                      <a:pPr algn="l" fontAlgn="t"/>
                      <a:r>
                        <a:rPr lang="en-ID" sz="1400" u="none" strike="noStrike">
                          <a:effectLst/>
                        </a:rPr>
                        <a:t>Laporan keuangan, analisis tren bisnis, data mining, dashboard bisnis</a:t>
                      </a:r>
                      <a:endParaRPr lang="en-ID" sz="1400" b="0" i="0" u="none" strike="noStrike">
                        <a:solidFill>
                          <a:srgbClr val="000000"/>
                        </a:solidFill>
                        <a:effectLst/>
                        <a:latin typeface="Calibri" panose="020F0502020204030204" pitchFamily="34" charset="0"/>
                      </a:endParaRPr>
                    </a:p>
                  </a:txBody>
                  <a:tcPr marL="5048" marR="5048" marT="5048" marB="0"/>
                </a:tc>
                <a:tc>
                  <a:txBody>
                    <a:bodyPr/>
                    <a:lstStyle/>
                    <a:p>
                      <a:pPr algn="l" fontAlgn="t"/>
                      <a:r>
                        <a:rPr lang="en-ID" sz="1400" u="none" strike="noStrike" dirty="0" err="1">
                          <a:effectLst/>
                        </a:rPr>
                        <a:t>Sistem</a:t>
                      </a:r>
                      <a:r>
                        <a:rPr lang="en-ID" sz="1400" u="none" strike="noStrike" dirty="0">
                          <a:effectLst/>
                        </a:rPr>
                        <a:t> </a:t>
                      </a:r>
                      <a:r>
                        <a:rPr lang="en-ID" sz="1400" u="none" strike="noStrike" dirty="0" err="1">
                          <a:effectLst/>
                        </a:rPr>
                        <a:t>perbankan</a:t>
                      </a:r>
                      <a:r>
                        <a:rPr lang="en-ID" sz="1400" u="none" strike="noStrike" dirty="0">
                          <a:effectLst/>
                        </a:rPr>
                        <a:t>, e-commerce, </a:t>
                      </a:r>
                      <a:r>
                        <a:rPr lang="en-ID" sz="1400" u="none" strike="noStrike" dirty="0" err="1">
                          <a:effectLst/>
                        </a:rPr>
                        <a:t>tiket</a:t>
                      </a:r>
                      <a:r>
                        <a:rPr lang="en-ID" sz="1400" u="none" strike="noStrike" dirty="0">
                          <a:effectLst/>
                        </a:rPr>
                        <a:t> </a:t>
                      </a:r>
                      <a:r>
                        <a:rPr lang="en-ID" sz="1400" u="none" strike="noStrike" dirty="0" err="1">
                          <a:effectLst/>
                        </a:rPr>
                        <a:t>penerbangan</a:t>
                      </a:r>
                      <a:r>
                        <a:rPr lang="en-ID" sz="1400" u="none" strike="noStrike" dirty="0">
                          <a:effectLst/>
                        </a:rPr>
                        <a:t>, </a:t>
                      </a:r>
                      <a:r>
                        <a:rPr lang="en-ID" sz="1400" u="none" strike="noStrike" dirty="0" err="1">
                          <a:effectLst/>
                        </a:rPr>
                        <a:t>sistem</a:t>
                      </a:r>
                      <a:r>
                        <a:rPr lang="en-ID" sz="1400" u="none" strike="noStrike" dirty="0">
                          <a:effectLst/>
                        </a:rPr>
                        <a:t> ERP </a:t>
                      </a:r>
                      <a:r>
                        <a:rPr lang="en-ID" sz="1400" u="none" strike="noStrike" dirty="0" err="1">
                          <a:effectLst/>
                        </a:rPr>
                        <a:t>operasional</a:t>
                      </a:r>
                      <a:endParaRPr lang="en-ID" sz="1400" b="0" i="0" u="none" strike="noStrike" dirty="0">
                        <a:solidFill>
                          <a:srgbClr val="000000"/>
                        </a:solidFill>
                        <a:effectLst/>
                        <a:latin typeface="Calibri" panose="020F0502020204030204" pitchFamily="34" charset="0"/>
                      </a:endParaRPr>
                    </a:p>
                  </a:txBody>
                  <a:tcPr marL="5048" marR="5048" marT="5048" marB="0"/>
                </a:tc>
                <a:extLst>
                  <a:ext uri="{0D108BD9-81ED-4DB2-BD59-A6C34878D82A}">
                    <a16:rowId xmlns:a16="http://schemas.microsoft.com/office/drawing/2014/main" val="4225337289"/>
                  </a:ext>
                </a:extLst>
              </a:tr>
            </a:tbl>
          </a:graphicData>
        </a:graphic>
      </p:graphicFrame>
    </p:spTree>
    <p:extLst>
      <p:ext uri="{BB962C8B-B14F-4D97-AF65-F5344CB8AC3E}">
        <p14:creationId xmlns:p14="http://schemas.microsoft.com/office/powerpoint/2010/main" val="3727162073"/>
      </p:ext>
    </p:extLst>
  </p:cSld>
  <p:clrMapOvr>
    <a:masterClrMapping/>
  </p:clrMapOvr>
</p:sld>
</file>

<file path=ppt/theme/theme1.xml><?xml version="1.0" encoding="utf-8"?>
<a:theme xmlns:a="http://schemas.openxmlformats.org/drawingml/2006/main" name="Theme2">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2" id="{B1BC96B7-6947-4150-BEAE-F914E5FCE830}" vid="{6A91104B-810D-4F17-BE05-CACDCE1D72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161</TotalTime>
  <Words>1197</Words>
  <Application>Microsoft Office PowerPoint</Application>
  <PresentationFormat>Widescreen</PresentationFormat>
  <Paragraphs>165</Paragraphs>
  <Slides>25</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Arial Narrow</vt:lpstr>
      <vt:lpstr>Calibri</vt:lpstr>
      <vt:lpstr>Open Sans</vt:lpstr>
      <vt:lpstr>Tahoma</vt:lpstr>
      <vt:lpstr>Tenorite</vt:lpstr>
      <vt:lpstr>Times New Roman</vt:lpstr>
      <vt:lpstr>Wingdings</vt:lpstr>
      <vt:lpstr>Theme2</vt:lpstr>
      <vt:lpstr>Manajemen Basis Data &amp; Data Warehouse</vt:lpstr>
      <vt:lpstr>RPS</vt:lpstr>
      <vt:lpstr>RPS</vt:lpstr>
      <vt:lpstr>Bahan Ajar</vt:lpstr>
      <vt:lpstr>Assessment Component</vt:lpstr>
      <vt:lpstr>Pendahuluan</vt:lpstr>
      <vt:lpstr>Keterbatasan Pemrosesan File Tradisional</vt:lpstr>
      <vt:lpstr>PowerPoint Presentation</vt:lpstr>
      <vt:lpstr>PowerPoint Presentation</vt:lpstr>
      <vt:lpstr>Pendekatan Basis Data</vt:lpstr>
      <vt:lpstr>Database Management System</vt:lpstr>
      <vt:lpstr>Keunggulan DBMS:</vt:lpstr>
      <vt:lpstr>Elements of the Database Approach</vt:lpstr>
      <vt:lpstr>PowerPoint Presentation</vt:lpstr>
      <vt:lpstr>KOMPONEN PENDUKUNG BASIS DATA</vt:lpstr>
      <vt:lpstr>Siklus Hidup Pengembangan Sistem Basis Data (SDLC)</vt:lpstr>
      <vt:lpstr>Two Approaches to Database and IS Development</vt:lpstr>
      <vt:lpstr>Systems Development Life Cycle  </vt:lpstr>
      <vt:lpstr>Data Warehouse</vt:lpstr>
      <vt:lpstr>Sejarah Perkembangan Data Warehouse</vt:lpstr>
      <vt:lpstr>Kebutuhan Data Warehouse</vt:lpstr>
      <vt:lpstr>Tantangan dalam Implementasi Data Warehouse</vt:lpstr>
      <vt:lpstr>Tren Organisasi dalam Pemanfaatan Data Warehouse</vt:lpstr>
      <vt:lpstr>Perbedaan Sistem Operasional vs Sistem Informasi</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Shabrina Teruri</cp:lastModifiedBy>
  <cp:revision>3</cp:revision>
  <dcterms:created xsi:type="dcterms:W3CDTF">2013-01-27T09:14:16Z</dcterms:created>
  <dcterms:modified xsi:type="dcterms:W3CDTF">2025-02-21T07:36:06Z</dcterms:modified>
  <cp:category/>
</cp:coreProperties>
</file>